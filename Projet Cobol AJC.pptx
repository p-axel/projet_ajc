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y="5143500" cx="9144000"/>
  <p:notesSz cx="6858000" cy="9144000"/>
  <p:embeddedFontLst>
    <p:embeddedFont>
      <p:font typeface="Roboto"/>
      <p:regular r:id="rId55"/>
      <p:bold r:id="rId56"/>
      <p:italic r:id="rId57"/>
      <p:boldItalic r:id="rId58"/>
    </p:embeddedFont>
    <p:embeddedFont>
      <p:font typeface="Roboto Mono"/>
      <p:regular r:id="rId59"/>
      <p:bold r:id="rId60"/>
      <p:italic r:id="rId61"/>
      <p:boldItalic r:id="rId62"/>
    </p:embeddedFont>
    <p:embeddedFont>
      <p:font typeface="Merriweather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Julian Hazard"/>
  <p:cmAuthor clrIdx="1" id="1" initials="" lastIdx="2" name="Pierre-axel Annonie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3B812C-48FC-4405-B2C1-7F524CE2F3E9}">
  <a:tblStyle styleId="{BD3B812C-48FC-4405-B2C1-7F524CE2F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RobotoMono-boldItalic.fntdata"/><Relationship Id="rId61" Type="http://schemas.openxmlformats.org/officeDocument/2006/relationships/font" Target="fonts/RobotoMono-italic.fntdata"/><Relationship Id="rId20" Type="http://schemas.openxmlformats.org/officeDocument/2006/relationships/slide" Target="slides/slide13.xml"/><Relationship Id="rId64" Type="http://schemas.openxmlformats.org/officeDocument/2006/relationships/font" Target="fonts/Merriweather-bold.fntdata"/><Relationship Id="rId63" Type="http://schemas.openxmlformats.org/officeDocument/2006/relationships/font" Target="fonts/Merriweather-regular.fntdata"/><Relationship Id="rId22" Type="http://schemas.openxmlformats.org/officeDocument/2006/relationships/slide" Target="slides/slide15.xml"/><Relationship Id="rId66" Type="http://schemas.openxmlformats.org/officeDocument/2006/relationships/font" Target="fonts/Merriweather-boldItalic.fntdata"/><Relationship Id="rId21" Type="http://schemas.openxmlformats.org/officeDocument/2006/relationships/slide" Target="slides/slide14.xml"/><Relationship Id="rId65" Type="http://schemas.openxmlformats.org/officeDocument/2006/relationships/font" Target="fonts/Merriweather-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RobotoMono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font" Target="fonts/Roboto-regular.fntdata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font" Target="fonts/Roboto-italic.fntdata"/><Relationship Id="rId12" Type="http://schemas.openxmlformats.org/officeDocument/2006/relationships/slide" Target="slides/slide5.xml"/><Relationship Id="rId56" Type="http://schemas.openxmlformats.org/officeDocument/2006/relationships/font" Target="fonts/Roboto-bold.fntdata"/><Relationship Id="rId15" Type="http://schemas.openxmlformats.org/officeDocument/2006/relationships/slide" Target="slides/slide8.xml"/><Relationship Id="rId59" Type="http://schemas.openxmlformats.org/officeDocument/2006/relationships/font" Target="fonts/RobotoMono-regular.fntdata"/><Relationship Id="rId14" Type="http://schemas.openxmlformats.org/officeDocument/2006/relationships/slide" Target="slides/slide7.xml"/><Relationship Id="rId58" Type="http://schemas.openxmlformats.org/officeDocument/2006/relationships/font" Target="fonts/Roboto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2-03T09:29:21.982">
    <p:pos x="6000" y="0"/>
    <p:text>Julian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5-12-03T09:28:32.810">
    <p:pos x="2939" y="82"/>
    <p:text>PA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5-12-03T09:30:21.465">
    <p:pos x="6000" y="0"/>
    <p:text>PA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JULIAN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992ca1eb4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992ca1eb4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a7404b6d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a7404b6d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1432a5b2a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1432a5b2a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b658acf2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b658acf2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bc079b77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bc079b77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b658acf2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b658acf2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b658acf2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b658acf2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b658acf28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b658acf2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b658acf2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b658acf2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c079b773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bc079b773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bc079b773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bc079b77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bc079b773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bc079b773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bc079b773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bc079b773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bc079b773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bc079b77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1432a5b2a_8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1432a5b2a_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1432a5b2a_8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91432a5b2a_8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bc079b773_5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bc079b773_5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bc079b773_5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abc079b773_5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c9d71c764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ac9d71c764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bc079b773_3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abc079b773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bc079b77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abc079b77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bc079b773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abc079b773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91432a5b2a_7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91432a5b2a_7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bc079b773_3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bc079b773_3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bc079b773_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abc079b773_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91432a5b2a_7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91432a5b2a_7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91432a5b2a_7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91432a5b2a_7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abc079b77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abc079b77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abc079b773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abc079b77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bc079b773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abc079b773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abc079b773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abc079b773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bc079b773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abc079b773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abc079b773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abc079b773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abc079b773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abc079b773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abc079b773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abc079b773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bc079b773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abc079b773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bc079b773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abc079b773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abc079b773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abc079b773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abc079b773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abc079b773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91432a5b2a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91432a5b2a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ac9d71c764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ac9d71c764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c9d71c764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ac9d71c764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JUL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ac9d71c7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ac9d71c7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91432a5b2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91432a5b2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acac334120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acac334120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ac9d71c764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ac9d71c764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5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Relationship Id="rId4" Type="http://schemas.openxmlformats.org/officeDocument/2006/relationships/image" Target="../media/image24.png"/><Relationship Id="rId10" Type="http://schemas.openxmlformats.org/officeDocument/2006/relationships/image" Target="../media/image10.png"/><Relationship Id="rId9" Type="http://schemas.openxmlformats.org/officeDocument/2006/relationships/image" Target="../media/image12.png"/><Relationship Id="rId5" Type="http://schemas.openxmlformats.org/officeDocument/2006/relationships/image" Target="../media/image14.jpg"/><Relationship Id="rId6" Type="http://schemas.openxmlformats.org/officeDocument/2006/relationships/image" Target="../media/image7.jp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3.xml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19.png"/><Relationship Id="rId8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Relationship Id="rId5" Type="http://schemas.openxmlformats.org/officeDocument/2006/relationships/image" Target="../media/image39.png"/><Relationship Id="rId6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Relationship Id="rId4" Type="http://schemas.openxmlformats.org/officeDocument/2006/relationships/image" Target="../media/image25.png"/><Relationship Id="rId5" Type="http://schemas.openxmlformats.org/officeDocument/2006/relationships/image" Target="../media/image32.png"/><Relationship Id="rId6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Relationship Id="rId4" Type="http://schemas.openxmlformats.org/officeDocument/2006/relationships/image" Target="../media/image42.png"/><Relationship Id="rId9" Type="http://schemas.openxmlformats.org/officeDocument/2006/relationships/image" Target="../media/image41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51.png"/><Relationship Id="rId8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Relationship Id="rId4" Type="http://schemas.openxmlformats.org/officeDocument/2006/relationships/image" Target="../media/image61.png"/><Relationship Id="rId5" Type="http://schemas.openxmlformats.org/officeDocument/2006/relationships/image" Target="../media/image40.png"/><Relationship Id="rId6" Type="http://schemas.openxmlformats.org/officeDocument/2006/relationships/image" Target="../media/image5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67.png"/><Relationship Id="rId6" Type="http://schemas.openxmlformats.org/officeDocument/2006/relationships/image" Target="../media/image5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4.png"/><Relationship Id="rId4" Type="http://schemas.openxmlformats.org/officeDocument/2006/relationships/image" Target="../media/image56.png"/><Relationship Id="rId5" Type="http://schemas.openxmlformats.org/officeDocument/2006/relationships/image" Target="../media/image60.png"/><Relationship Id="rId6" Type="http://schemas.openxmlformats.org/officeDocument/2006/relationships/image" Target="../media/image53.png"/><Relationship Id="rId7" Type="http://schemas.openxmlformats.org/officeDocument/2006/relationships/image" Target="../media/image6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9.png"/><Relationship Id="rId4" Type="http://schemas.openxmlformats.org/officeDocument/2006/relationships/image" Target="../media/image57.png"/><Relationship Id="rId5" Type="http://schemas.openxmlformats.org/officeDocument/2006/relationships/image" Target="../media/image6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3.png"/><Relationship Id="rId4" Type="http://schemas.openxmlformats.org/officeDocument/2006/relationships/image" Target="../media/image7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4.png"/><Relationship Id="rId4" Type="http://schemas.openxmlformats.org/officeDocument/2006/relationships/image" Target="../media/image76.png"/><Relationship Id="rId5" Type="http://schemas.openxmlformats.org/officeDocument/2006/relationships/image" Target="../media/image7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5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7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8.png"/><Relationship Id="rId4" Type="http://schemas.openxmlformats.org/officeDocument/2006/relationships/image" Target="../media/image77.png"/><Relationship Id="rId5" Type="http://schemas.openxmlformats.org/officeDocument/2006/relationships/image" Target="../media/image84.png"/><Relationship Id="rId6" Type="http://schemas.openxmlformats.org/officeDocument/2006/relationships/image" Target="../media/image79.png"/><Relationship Id="rId7" Type="http://schemas.openxmlformats.org/officeDocument/2006/relationships/image" Target="../media/image8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279275" y="2608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 MAINFRAME - AJCFRAME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2025  ( 25 jours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6269975" y="3100575"/>
            <a:ext cx="25299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Présenté par le groupe 4 :</a:t>
            </a:r>
            <a:endParaRPr sz="1300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Fabrice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Pierre-Axel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Julian 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79275" y="1971650"/>
            <a:ext cx="4678800" cy="18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Traitement des nouveautés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Intégration des ventes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Edition des factures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Statistiques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68" name="Google Shape;68;p13" title="téléchargem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1188" y="0"/>
            <a:ext cx="1704975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25" y="500925"/>
            <a:ext cx="3706500" cy="17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</a:t>
            </a:r>
            <a:r>
              <a:rPr lang="fr"/>
              <a:t> Equipe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423600" y="208250"/>
            <a:ext cx="46596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/>
              <a:t>Annonier Pierre-axel, développeur web et web mobile,</a:t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/>
              <a:t>Ingénieur informatique parcours cybersécurité (4 -ème année CNAM Strasbourg) en formation . Avec plusieurs années d’expérience en développement full stack, sécurité des SI et réseau.</a:t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/>
              <a:t>Julian Hazard, développeur Full-Stack Javascript</a:t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/>
              <a:t>Ancien vendeur et employé polyvalent reconverti développement web depuis un an. Avec plusieurs années d’expériences dans le commerce, manutention, marketing puis musicien et ingénieur son en autodidacte.</a:t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/>
              <a:t>Pargny Fabrice, développeur web</a:t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/>
              <a:t>Ancien étudiant en BTS Analyse de biologie médical reconverti en développeur web depuis 3 ans. Avec 2 années d’expériences en tant que développeur</a:t>
            </a:r>
            <a:r>
              <a:rPr lang="fr"/>
              <a:t> PHP.</a:t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6" name="Google Shape;76;p14" title="PHOTO CV COUP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625" y="1879599"/>
            <a:ext cx="1184183" cy="108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title="175594191282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700" y="1879600"/>
            <a:ext cx="1089675" cy="108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 title="1620318249276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5825" y="3218025"/>
            <a:ext cx="885125" cy="88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266325" y="196875"/>
            <a:ext cx="3706500" cy="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Contexte Projet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0275" y="1378950"/>
            <a:ext cx="3618600" cy="21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Organisation:</a:t>
            </a:r>
            <a:endParaRPr sz="13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fr" sz="13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Un point tous les matins (10-15 min)</a:t>
            </a:r>
            <a:endParaRPr sz="13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fr" sz="13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Répartition par partie des tâches via Trello</a:t>
            </a:r>
            <a:endParaRPr sz="13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fr" sz="13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S’entraider à la résolution d’erreur &amp; partage de solution sur Discord</a:t>
            </a:r>
            <a:endParaRPr sz="13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fr" sz="13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Partage du code sur Google drive</a:t>
            </a:r>
            <a:endParaRPr sz="13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fr" sz="13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Explication du code et démonstration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4598025" y="399550"/>
            <a:ext cx="37359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Société AJCFRAME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Equipe de 3 collaborateurs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Durée du projet :  25 jours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Full-remote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Organisation</a:t>
            </a:r>
            <a:r>
              <a:rPr lang="fr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: Méthode agile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 projet consiste à développer une chaîne de traitements batch en environnement Mainframe z/OS, utilisant principalement COBOL, JCL et DB2.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L’objectif est de démontrer la capacité à manipuler des données, orchestrer des traitements et produire un résultat exploitable.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Organisation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4644675" y="500925"/>
            <a:ext cx="4166400" cy="13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2"/>
                </a:solidFill>
              </a:rPr>
              <a:t>Répartition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2"/>
                </a:solidFill>
              </a:rPr>
              <a:t>Attribution claire des </a:t>
            </a:r>
            <a:r>
              <a:rPr lang="fr" sz="1200">
                <a:solidFill>
                  <a:schemeClr val="lt2"/>
                </a:solidFill>
              </a:rPr>
              <a:t>responsabilitées</a:t>
            </a:r>
            <a:r>
              <a:rPr lang="fr" sz="1200">
                <a:solidFill>
                  <a:schemeClr val="lt2"/>
                </a:solidFill>
              </a:rPr>
              <a:t> 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>
                <a:solidFill>
                  <a:schemeClr val="lt2"/>
                </a:solidFill>
              </a:rPr>
              <a:t>Rituel Agile: Daily : mise à jour des points bloquants.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00550"/>
            <a:ext cx="9021151" cy="334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242950" y="62850"/>
            <a:ext cx="3706500" cy="14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Outils et gestion du projet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4666825" y="130350"/>
            <a:ext cx="4562700" cy="49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Outils &amp; Gestion de Projet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Développement des programmes en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COBOL</a:t>
            </a:r>
            <a:b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Orchestration des traitements via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JCL</a:t>
            </a:r>
            <a:b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 des données et requêtes avec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DB2</a:t>
            </a:r>
            <a:b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Utilisation de fichiers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séquentiels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et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VSAM KSDS</a:t>
            </a:r>
            <a:b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Travail quotidien sur l’environnement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TSO/ISPF</a:t>
            </a:r>
            <a:b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Suivi des jobs et analyse dans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SDSF/ SPOOL</a:t>
            </a:r>
            <a:b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Vérifications SQL avec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SPUFI </a:t>
            </a:r>
            <a:b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Partage des documents et livrables via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Drive</a:t>
            </a:r>
            <a:b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et coordination d’équipe sur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Discord</a:t>
            </a:r>
            <a:b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Répartition des tâches, points réguliers et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tests unitaires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3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200"/>
          </a:p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2" name="Google Shape;102;p17" title="téléchargement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1801" y="2763851"/>
            <a:ext cx="1135300" cy="1120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 title="téléchargement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1887" y="3636489"/>
            <a:ext cx="1135300" cy="1120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 title="téléchargement (1)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9625" y="1188600"/>
            <a:ext cx="1879825" cy="13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 title="téléchargement (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2625" y="3685100"/>
            <a:ext cx="1071550" cy="10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 title="téléchargement (2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2947" y="1188600"/>
            <a:ext cx="1704975" cy="138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 title="téléchargement (4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9084" y="2763824"/>
            <a:ext cx="1135300" cy="11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83475" y="2729125"/>
            <a:ext cx="1038300" cy="10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0" y="500925"/>
            <a:ext cx="2095200" cy="15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Diagramme fonctionnel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16" name="Google Shape;116;p18" title="2025-12-01_11h27_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425" y="0"/>
            <a:ext cx="6948875" cy="505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Proposition Technique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4692150" y="1023600"/>
            <a:ext cx="3780300" cy="30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763"/>
              <a:t>I/ Importation des nouveaux produits</a:t>
            </a:r>
            <a:endParaRPr sz="676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76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6763"/>
              <a:t>II/ Intégration des ventes EU/ASIA</a:t>
            </a:r>
            <a:endParaRPr sz="676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76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6763"/>
              <a:t>III/ Génération des factures</a:t>
            </a:r>
            <a:endParaRPr sz="676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76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6763"/>
              <a:t>IV/ Statistiques</a:t>
            </a:r>
            <a:endParaRPr sz="676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I/ Importation des nouveaux produits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4572000" y="764925"/>
            <a:ext cx="4383000" cy="12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fr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Traiter le fichier et insérer les nouveaux produits.</a:t>
            </a:r>
            <a:endParaRPr b="1"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fr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Formatage de la description.</a:t>
            </a:r>
            <a:endParaRPr b="1"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fr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Prévoir la conversion des prix pour les rendre en USD.</a:t>
            </a:r>
            <a:endParaRPr b="1"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fr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Cohérence des données nettoyées puis génération de OUTPRODS.</a:t>
            </a:r>
            <a:endParaRPr b="1"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231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1" name="Google Shape;131;p20"/>
          <p:cNvSpPr txBox="1"/>
          <p:nvPr/>
        </p:nvSpPr>
        <p:spPr>
          <a:xfrm>
            <a:off x="693375" y="2458575"/>
            <a:ext cx="2438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CONTEXTE &amp; OBJECTIFS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4572000" y="2965350"/>
            <a:ext cx="45117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 sz="1100">
                <a:solidFill>
                  <a:schemeClr val="dk1"/>
                </a:solidFill>
              </a:rPr>
              <a:t>Lecture du fichier OUTPRODS contenant les produits déjà nettoyés.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 sz="1100">
                <a:solidFill>
                  <a:schemeClr val="dk1"/>
                </a:solidFill>
              </a:rPr>
              <a:t>Convertir les champs textes (prix, stock) en données numériques.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 sz="1100">
                <a:solidFill>
                  <a:schemeClr val="dk1"/>
                </a:solidFill>
              </a:rPr>
              <a:t>Insérer chaque produit dans la table PRODUCTS.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 sz="1100">
                <a:solidFill>
                  <a:schemeClr val="dk1"/>
                </a:solidFill>
              </a:rPr>
              <a:t>Générer toutes les erreurs SQL.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5487800" y="225925"/>
            <a:ext cx="2266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COBOL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5495150" y="2571750"/>
            <a:ext cx="2266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DB2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25" y="47497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Programme COBOL PROJG4PP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184120" y="4659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678950" y="2380700"/>
            <a:ext cx="24387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SCHÉMA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5421825" y="313370"/>
            <a:ext cx="2254200" cy="580200"/>
          </a:xfrm>
          <a:prstGeom prst="rect">
            <a:avLst/>
          </a:prstGeom>
          <a:solidFill>
            <a:schemeClr val="lt1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00" lIns="84500" spcFirstLastPara="1" rIns="84500" wrap="square" tIns="8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4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5428500" y="374272"/>
            <a:ext cx="2254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500" lIns="84500" spcFirstLastPara="1" rIns="84500" wrap="square" tIns="8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NEWPRODS.DATA (csv)</a:t>
            </a:r>
            <a:endParaRPr sz="120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32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TAUX KSDS</a:t>
            </a:r>
            <a:endParaRPr sz="120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" name="Google Shape;144;p21"/>
          <p:cNvCxnSpPr/>
          <p:nvPr/>
        </p:nvCxnSpPr>
        <p:spPr>
          <a:xfrm>
            <a:off x="6517150" y="893572"/>
            <a:ext cx="3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45" name="Google Shape;145;p21"/>
          <p:cNvGrpSpPr/>
          <p:nvPr/>
        </p:nvGrpSpPr>
        <p:grpSpPr>
          <a:xfrm>
            <a:off x="5917705" y="2470138"/>
            <a:ext cx="1081193" cy="458482"/>
            <a:chOff x="4516450" y="1815534"/>
            <a:chExt cx="1269900" cy="577216"/>
          </a:xfrm>
        </p:grpSpPr>
        <p:sp>
          <p:nvSpPr>
            <p:cNvPr id="146" name="Google Shape;146;p21"/>
            <p:cNvSpPr/>
            <p:nvPr/>
          </p:nvSpPr>
          <p:spPr>
            <a:xfrm>
              <a:off x="4516450" y="1822750"/>
              <a:ext cx="1262700" cy="570000"/>
            </a:xfrm>
            <a:prstGeom prst="rect">
              <a:avLst/>
            </a:prstGeom>
            <a:solidFill>
              <a:schemeClr val="lt1"/>
            </a:solidFill>
            <a:ln cap="flat" cmpd="sng" w="7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625" lIns="72625" spcFirstLastPara="1" rIns="72625" wrap="square" tIns="72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1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" name="Google Shape;147;p21"/>
            <p:cNvSpPr txBox="1"/>
            <p:nvPr/>
          </p:nvSpPr>
          <p:spPr>
            <a:xfrm>
              <a:off x="4523650" y="1815534"/>
              <a:ext cx="1262700" cy="5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625" lIns="72625" spcFirstLastPara="1" rIns="72625" wrap="square" tIns="72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32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Contrôles logique métier</a:t>
              </a:r>
              <a:endParaRPr sz="1032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8" name="Google Shape;148;p21"/>
          <p:cNvGrpSpPr/>
          <p:nvPr/>
        </p:nvGrpSpPr>
        <p:grpSpPr>
          <a:xfrm>
            <a:off x="5513493" y="1195494"/>
            <a:ext cx="2084209" cy="965606"/>
            <a:chOff x="5418775" y="1071206"/>
            <a:chExt cx="2267663" cy="1050600"/>
          </a:xfrm>
        </p:grpSpPr>
        <p:sp>
          <p:nvSpPr>
            <p:cNvPr id="149" name="Google Shape;149;p21"/>
            <p:cNvSpPr/>
            <p:nvPr/>
          </p:nvSpPr>
          <p:spPr>
            <a:xfrm>
              <a:off x="5418775" y="1071206"/>
              <a:ext cx="2254200" cy="1050600"/>
            </a:xfrm>
            <a:prstGeom prst="rect">
              <a:avLst/>
            </a:prstGeom>
            <a:solidFill>
              <a:schemeClr val="lt1"/>
            </a:solidFill>
            <a:ln cap="flat" cmpd="sng" w="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7675" lIns="77675" spcFirstLastPara="1" rIns="77675" wrap="square" tIns="7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" name="Google Shape;150;p21"/>
            <p:cNvSpPr txBox="1"/>
            <p:nvPr/>
          </p:nvSpPr>
          <p:spPr>
            <a:xfrm>
              <a:off x="5432238" y="1122350"/>
              <a:ext cx="2254200" cy="94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7675" lIns="77675" spcFirstLastPara="1" rIns="77675" wrap="square" tIns="77675">
              <a:normAutofit fontScale="85000" lnSpcReduction="20000"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4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TRAITEMENT-LIGNE</a:t>
              </a:r>
              <a:endParaRPr sz="1104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4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69717" lvl="0" marL="420211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ct val="100000"/>
                <a:buFont typeface="Roboto"/>
                <a:buChar char="●"/>
              </a:pPr>
              <a:r>
                <a:rPr lang="fr" sz="1104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Découpage champs</a:t>
              </a:r>
              <a:endParaRPr sz="1104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69717" lvl="0" marL="420211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ct val="100000"/>
                <a:buFont typeface="Roboto"/>
                <a:buChar char="●"/>
              </a:pPr>
              <a:r>
                <a:rPr lang="fr" sz="1104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Compacter</a:t>
              </a:r>
              <a:endParaRPr sz="1104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69717" lvl="0" marL="420211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ct val="100000"/>
                <a:buFont typeface="Roboto"/>
                <a:buChar char="●"/>
              </a:pPr>
              <a:r>
                <a:rPr lang="fr" sz="1104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Validations</a:t>
              </a:r>
              <a:endParaRPr sz="1104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20211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4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51" name="Google Shape;151;p21"/>
          <p:cNvCxnSpPr/>
          <p:nvPr/>
        </p:nvCxnSpPr>
        <p:spPr>
          <a:xfrm flipH="1">
            <a:off x="6447136" y="2931357"/>
            <a:ext cx="6000" cy="9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1"/>
          <p:cNvSpPr/>
          <p:nvPr/>
        </p:nvSpPr>
        <p:spPr>
          <a:xfrm>
            <a:off x="5610563" y="3892888"/>
            <a:ext cx="1679100" cy="30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5621438" y="3892913"/>
            <a:ext cx="16737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OK   ✅   /  KO  ❌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" name="Google Shape;154;p21"/>
          <p:cNvCxnSpPr/>
          <p:nvPr/>
        </p:nvCxnSpPr>
        <p:spPr>
          <a:xfrm>
            <a:off x="5782888" y="4207425"/>
            <a:ext cx="0" cy="18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1"/>
          <p:cNvCxnSpPr/>
          <p:nvPr/>
        </p:nvCxnSpPr>
        <p:spPr>
          <a:xfrm>
            <a:off x="6941613" y="4207425"/>
            <a:ext cx="0" cy="18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21"/>
          <p:cNvSpPr txBox="1"/>
          <p:nvPr/>
        </p:nvSpPr>
        <p:spPr>
          <a:xfrm>
            <a:off x="5188288" y="4352725"/>
            <a:ext cx="11892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OUTPRODS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6377488" y="4352725"/>
            <a:ext cx="16737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NEWPRODS.ERR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" name="Google Shape;158;p21"/>
          <p:cNvCxnSpPr/>
          <p:nvPr/>
        </p:nvCxnSpPr>
        <p:spPr>
          <a:xfrm>
            <a:off x="6458150" y="2161097"/>
            <a:ext cx="3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3041100" y="224250"/>
            <a:ext cx="21924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CONTRÔLES</a:t>
            </a:r>
            <a:r>
              <a:rPr b="1"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1"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MÉTIER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5" name="Google Shape;165;p22"/>
          <p:cNvGraphicFramePr/>
          <p:nvPr/>
        </p:nvGraphicFramePr>
        <p:xfrm>
          <a:off x="700600" y="67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{BD3B812C-48FC-4405-B2C1-7F524CE2F3E9}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TRAITEMENT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EXEMPLE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Détection doublons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- Comparaison code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P10 → ✅ OK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P11 → ✅ OK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P12 → ✅ OK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P12 → ❌ DOUBLON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↓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Écrit dans NEWPRODS.ERR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fr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Conversion devise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- Lecture TAUXCONV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- Calcul USD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25.75 CNY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* 0.1405 (taux CNY → USD)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= 3.61 USD ✅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fr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Formatage texte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- Majuscule 1ere lettre/mot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“USB FLASH DRIVE”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               </a:t>
                      </a:r>
                      <a:r>
                        <a:rPr lang="fr" sz="1200"/>
                        <a:t>↓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“Usb Flash Drive”</a:t>
                      </a:r>
                      <a:r>
                        <a:rPr lang="fr"/>
                        <a:t>  ✅       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Contrôle format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- PRIX numérique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- STOCK numérique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STOCK = “DO” (texte)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→ ❌ Format invalide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→ Écrit dans NEWPRODS.ERR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1" name="Google Shape;171;p23"/>
          <p:cNvSpPr txBox="1"/>
          <p:nvPr>
            <p:ph type="title"/>
          </p:nvPr>
        </p:nvSpPr>
        <p:spPr>
          <a:xfrm>
            <a:off x="311725" y="4490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Programme COBOL PROJG4PP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3"/>
          <p:cNvSpPr txBox="1"/>
          <p:nvPr/>
        </p:nvSpPr>
        <p:spPr>
          <a:xfrm>
            <a:off x="451775" y="1607225"/>
            <a:ext cx="2917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Résultats après exécution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4659050" y="624375"/>
            <a:ext cx="4170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Création du fichier NEWPRODS.ERREUR avec les lignes non incluse et anomalies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" name="Google Shape;174;p23"/>
          <p:cNvPicPr preferRelativeResize="0"/>
          <p:nvPr/>
        </p:nvPicPr>
        <p:blipFill rotWithShape="1">
          <a:blip r:embed="rId3">
            <a:alphaModFix/>
          </a:blip>
          <a:srcRect b="10762" l="0" r="10762" t="0"/>
          <a:stretch/>
        </p:blipFill>
        <p:spPr>
          <a:xfrm>
            <a:off x="4659050" y="1769575"/>
            <a:ext cx="4339628" cy="7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9050" y="2975225"/>
            <a:ext cx="4339626" cy="774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75" y="3170600"/>
            <a:ext cx="4212399" cy="145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/>
        </p:nvSpPr>
        <p:spPr>
          <a:xfrm>
            <a:off x="0" y="2189750"/>
            <a:ext cx="4128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-"/>
            </a:pPr>
            <a:r>
              <a:rPr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Création du fichier OUTPRODS avec les données formatés des lignes à inclure en BDD.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3" name="Google Shape;183;p24"/>
          <p:cNvSpPr txBox="1"/>
          <p:nvPr>
            <p:ph type="title"/>
          </p:nvPr>
        </p:nvSpPr>
        <p:spPr>
          <a:xfrm>
            <a:off x="311725" y="4490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Programme DB2 DB2PART1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 txBox="1"/>
          <p:nvPr/>
        </p:nvSpPr>
        <p:spPr>
          <a:xfrm>
            <a:off x="686900" y="1749850"/>
            <a:ext cx="2438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SCHÉMA</a:t>
            </a:r>
            <a:r>
              <a:rPr lang="fr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&amp; requête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5" name="Google Shape;185;p24"/>
          <p:cNvGrpSpPr/>
          <p:nvPr/>
        </p:nvGrpSpPr>
        <p:grpSpPr>
          <a:xfrm>
            <a:off x="5123650" y="280600"/>
            <a:ext cx="3100200" cy="435900"/>
            <a:chOff x="5123625" y="476875"/>
            <a:chExt cx="3100200" cy="435900"/>
          </a:xfrm>
        </p:grpSpPr>
        <p:sp>
          <p:nvSpPr>
            <p:cNvPr id="186" name="Google Shape;186;p24"/>
            <p:cNvSpPr/>
            <p:nvPr/>
          </p:nvSpPr>
          <p:spPr>
            <a:xfrm>
              <a:off x="5123625" y="476875"/>
              <a:ext cx="3100200" cy="435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</a:t>
              </a:r>
              <a:endPara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" name="Google Shape;187;p24"/>
            <p:cNvSpPr txBox="1"/>
            <p:nvPr/>
          </p:nvSpPr>
          <p:spPr>
            <a:xfrm>
              <a:off x="5123625" y="502375"/>
              <a:ext cx="3100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3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OUTPRODS (fichier)</a:t>
              </a:r>
              <a:endPara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8" name="Google Shape;188;p24"/>
          <p:cNvGrpSpPr/>
          <p:nvPr/>
        </p:nvGrpSpPr>
        <p:grpSpPr>
          <a:xfrm>
            <a:off x="5123650" y="1121050"/>
            <a:ext cx="3100200" cy="628800"/>
            <a:chOff x="5123625" y="1485525"/>
            <a:chExt cx="3100200" cy="628800"/>
          </a:xfrm>
        </p:grpSpPr>
        <p:sp>
          <p:nvSpPr>
            <p:cNvPr id="189" name="Google Shape;189;p24"/>
            <p:cNvSpPr/>
            <p:nvPr/>
          </p:nvSpPr>
          <p:spPr>
            <a:xfrm>
              <a:off x="5123625" y="1485525"/>
              <a:ext cx="3100200" cy="628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</a:t>
              </a:r>
              <a:endPara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" name="Google Shape;190;p24"/>
            <p:cNvSpPr txBox="1"/>
            <p:nvPr/>
          </p:nvSpPr>
          <p:spPr>
            <a:xfrm>
              <a:off x="5123625" y="1503825"/>
              <a:ext cx="3100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3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CONVERSION - VAR</a:t>
              </a:r>
              <a:endPara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3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(prix, stock -&gt; num)</a:t>
              </a:r>
              <a:endPara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1" name="Google Shape;191;p24"/>
          <p:cNvGrpSpPr/>
          <p:nvPr/>
        </p:nvGrpSpPr>
        <p:grpSpPr>
          <a:xfrm>
            <a:off x="5123650" y="1995600"/>
            <a:ext cx="3100200" cy="628800"/>
            <a:chOff x="5123625" y="1485525"/>
            <a:chExt cx="3100200" cy="628800"/>
          </a:xfrm>
        </p:grpSpPr>
        <p:sp>
          <p:nvSpPr>
            <p:cNvPr id="192" name="Google Shape;192;p24"/>
            <p:cNvSpPr/>
            <p:nvPr/>
          </p:nvSpPr>
          <p:spPr>
            <a:xfrm>
              <a:off x="5123625" y="1485525"/>
              <a:ext cx="3100200" cy="628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</a:t>
              </a:r>
              <a:endPara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3" name="Google Shape;193;p24"/>
            <p:cNvSpPr txBox="1"/>
            <p:nvPr/>
          </p:nvSpPr>
          <p:spPr>
            <a:xfrm>
              <a:off x="5123625" y="1503825"/>
              <a:ext cx="3100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3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TRANSFERT</a:t>
              </a:r>
              <a:endPara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3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(vers variables DB2 (DCLGEN))</a:t>
              </a:r>
              <a:endPara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4" name="Google Shape;194;p24"/>
          <p:cNvGrpSpPr/>
          <p:nvPr/>
        </p:nvGrpSpPr>
        <p:grpSpPr>
          <a:xfrm>
            <a:off x="5123650" y="2937225"/>
            <a:ext cx="3100200" cy="628800"/>
            <a:chOff x="5123625" y="1485525"/>
            <a:chExt cx="3100200" cy="628800"/>
          </a:xfrm>
        </p:grpSpPr>
        <p:sp>
          <p:nvSpPr>
            <p:cNvPr id="195" name="Google Shape;195;p24"/>
            <p:cNvSpPr/>
            <p:nvPr/>
          </p:nvSpPr>
          <p:spPr>
            <a:xfrm>
              <a:off x="5123625" y="1485525"/>
              <a:ext cx="3100200" cy="628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</a:t>
              </a:r>
              <a:endPara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" name="Google Shape;196;p24"/>
            <p:cNvSpPr txBox="1"/>
            <p:nvPr/>
          </p:nvSpPr>
          <p:spPr>
            <a:xfrm>
              <a:off x="5123625" y="1503825"/>
              <a:ext cx="3100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3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AJOUT-OP</a:t>
              </a:r>
              <a:endPara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3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INSERT + gestion erreur</a:t>
              </a:r>
              <a:endPara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97" name="Google Shape;197;p24"/>
          <p:cNvCxnSpPr/>
          <p:nvPr/>
        </p:nvCxnSpPr>
        <p:spPr>
          <a:xfrm>
            <a:off x="6673450" y="744850"/>
            <a:ext cx="1500" cy="34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24"/>
          <p:cNvSpPr txBox="1"/>
          <p:nvPr/>
        </p:nvSpPr>
        <p:spPr>
          <a:xfrm>
            <a:off x="6854625" y="748225"/>
            <a:ext cx="7380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Lecture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9" name="Google Shape;199;p24"/>
          <p:cNvCxnSpPr>
            <a:stCxn id="190" idx="2"/>
            <a:endCxn id="193" idx="0"/>
          </p:cNvCxnSpPr>
          <p:nvPr/>
        </p:nvCxnSpPr>
        <p:spPr>
          <a:xfrm>
            <a:off x="6673750" y="1724350"/>
            <a:ext cx="0" cy="2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4"/>
          <p:cNvCxnSpPr/>
          <p:nvPr/>
        </p:nvCxnSpPr>
        <p:spPr>
          <a:xfrm>
            <a:off x="6639450" y="2636063"/>
            <a:ext cx="0" cy="2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4"/>
          <p:cNvCxnSpPr>
            <a:stCxn id="195" idx="2"/>
          </p:cNvCxnSpPr>
          <p:nvPr/>
        </p:nvCxnSpPr>
        <p:spPr>
          <a:xfrm>
            <a:off x="6673750" y="3566025"/>
            <a:ext cx="1500" cy="3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02" name="Google Shape;202;p24"/>
          <p:cNvGraphicFramePr/>
          <p:nvPr/>
        </p:nvGraphicFramePr>
        <p:xfrm>
          <a:off x="5124400" y="390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{BD3B812C-48FC-4405-B2C1-7F524CE2F3E9}</a:tableStyleId>
              </a:tblPr>
              <a:tblGrid>
                <a:gridCol w="1550100"/>
                <a:gridCol w="1550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SQLCODE = 0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✅ OK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SQLCODE != 0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❌ Erreur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-&gt; ROLLBACK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-&gt; LOGDATA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03" name="Google Shape;20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50" y="2684700"/>
            <a:ext cx="3947051" cy="167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/>
          <p:nvPr/>
        </p:nvSpPr>
        <p:spPr>
          <a:xfrm>
            <a:off x="4391875" y="3120350"/>
            <a:ext cx="548700" cy="2895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311725" y="4490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Programme DB2 DB2PART1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"/>
          <p:cNvSpPr txBox="1"/>
          <p:nvPr/>
        </p:nvSpPr>
        <p:spPr>
          <a:xfrm>
            <a:off x="79675" y="1635100"/>
            <a:ext cx="417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                 CONCLUSION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51275" y="2156750"/>
            <a:ext cx="4170600" cy="22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-"/>
            </a:pPr>
            <a:r>
              <a:rPr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Enregistrement des anomalies SQL dans LOGDATA.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-"/>
            </a:pPr>
            <a:r>
              <a:rPr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Nouveaux produits validés et ajoutés à la BDD.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     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3" name="Google Shape;21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25" y="2156752"/>
            <a:ext cx="4588926" cy="247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2225" y="1395050"/>
            <a:ext cx="4588926" cy="633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2225" y="265600"/>
            <a:ext cx="4588925" cy="915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25" y="3074152"/>
            <a:ext cx="3566550" cy="18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5"/>
          <p:cNvSpPr/>
          <p:nvPr/>
        </p:nvSpPr>
        <p:spPr>
          <a:xfrm>
            <a:off x="3975275" y="3467675"/>
            <a:ext cx="337800" cy="57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311725" y="4490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II/ Intégration des ventes EU/ASIA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24" name="Google Shape;224;p26"/>
          <p:cNvSpPr txBox="1"/>
          <p:nvPr>
            <p:ph idx="1" type="body"/>
          </p:nvPr>
        </p:nvSpPr>
        <p:spPr>
          <a:xfrm>
            <a:off x="4638150" y="373800"/>
            <a:ext cx="4383000" cy="43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26225" lvl="0" marL="45720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fr" sz="614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fichiers (VENTESEU et VENTEAS) contenant des ventes à ajouter en BDD (tables ORDERS et ITEMS).</a:t>
            </a:r>
            <a:endParaRPr sz="614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614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225" lvl="0" marL="45720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fr" sz="614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Mise à jour des stocks (dans PRODUCTS).</a:t>
            </a:r>
            <a:endParaRPr sz="614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614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225" lvl="0" marL="45720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fr" sz="614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Modification des balances client.</a:t>
            </a:r>
            <a:endParaRPr sz="614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614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225" lvl="0" marL="45720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fr" sz="614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Générer un nouveau fichier PROJET.REAPPRO.DATA si le stock est en dessous du seuil.</a:t>
            </a:r>
            <a:endParaRPr sz="614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614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225" lvl="0" marL="45720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fr" sz="614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Journalisation des anomalies.</a:t>
            </a:r>
            <a:endParaRPr sz="614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693375" y="2458575"/>
            <a:ext cx="2438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CONTEXTE &amp; OBJECTIFS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type="title"/>
          </p:nvPr>
        </p:nvSpPr>
        <p:spPr>
          <a:xfrm>
            <a:off x="311725" y="4490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PROGRAMME DB2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DB2PART2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"/>
          <p:cNvSpPr txBox="1"/>
          <p:nvPr>
            <p:ph idx="12" type="sldNum"/>
          </p:nvPr>
        </p:nvSpPr>
        <p:spPr>
          <a:xfrm>
            <a:off x="8597826" y="4737843"/>
            <a:ext cx="498900" cy="357900"/>
          </a:xfrm>
          <a:prstGeom prst="rect">
            <a:avLst/>
          </a:prstGeom>
        </p:spPr>
        <p:txBody>
          <a:bodyPr anchorCtr="0" anchor="ctr" bIns="83125" lIns="83125" spcFirstLastPara="1" rIns="83125" wrap="square" tIns="831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9"/>
              <a:t>‹#›</a:t>
            </a:fld>
            <a:endParaRPr sz="909"/>
          </a:p>
        </p:txBody>
      </p:sp>
      <p:sp>
        <p:nvSpPr>
          <p:cNvPr id="232" name="Google Shape;232;p27"/>
          <p:cNvSpPr txBox="1"/>
          <p:nvPr/>
        </p:nvSpPr>
        <p:spPr>
          <a:xfrm>
            <a:off x="693375" y="2458575"/>
            <a:ext cx="2438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SCHÉMA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3" name="Google Shape;233;p27"/>
          <p:cNvGrpSpPr/>
          <p:nvPr/>
        </p:nvGrpSpPr>
        <p:grpSpPr>
          <a:xfrm>
            <a:off x="6470172" y="298083"/>
            <a:ext cx="1881433" cy="504662"/>
            <a:chOff x="5998825" y="193800"/>
            <a:chExt cx="2069100" cy="555000"/>
          </a:xfrm>
        </p:grpSpPr>
        <p:sp>
          <p:nvSpPr>
            <p:cNvPr id="234" name="Google Shape;234;p27"/>
            <p:cNvSpPr/>
            <p:nvPr/>
          </p:nvSpPr>
          <p:spPr>
            <a:xfrm>
              <a:off x="5998825" y="193800"/>
              <a:ext cx="2069100" cy="356700"/>
            </a:xfrm>
            <a:prstGeom prst="rect">
              <a:avLst/>
            </a:prstGeom>
            <a:solidFill>
              <a:schemeClr val="lt1"/>
            </a:solidFill>
            <a:ln cap="flat" cmpd="sng" w="6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9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5" name="Google Shape;235;p27"/>
            <p:cNvSpPr txBox="1"/>
            <p:nvPr/>
          </p:nvSpPr>
          <p:spPr>
            <a:xfrm>
              <a:off x="6208725" y="193800"/>
              <a:ext cx="1710000" cy="55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275" lIns="65275" spcFirstLastPara="1" rIns="65275" wrap="square" tIns="65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746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LECTURE DES FICHIERS VENTES (compare ID-VEU / ID-VAS)</a:t>
              </a:r>
              <a:endParaRPr b="1" sz="746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6" name="Google Shape;236;p27"/>
          <p:cNvGrpSpPr/>
          <p:nvPr/>
        </p:nvGrpSpPr>
        <p:grpSpPr>
          <a:xfrm>
            <a:off x="5281739" y="298083"/>
            <a:ext cx="943581" cy="277155"/>
            <a:chOff x="4374350" y="179025"/>
            <a:chExt cx="1037700" cy="304800"/>
          </a:xfrm>
        </p:grpSpPr>
        <p:sp>
          <p:nvSpPr>
            <p:cNvPr id="237" name="Google Shape;237;p27"/>
            <p:cNvSpPr/>
            <p:nvPr/>
          </p:nvSpPr>
          <p:spPr>
            <a:xfrm>
              <a:off x="4374350" y="179025"/>
              <a:ext cx="1037700" cy="304800"/>
            </a:xfrm>
            <a:prstGeom prst="rect">
              <a:avLst/>
            </a:prstGeom>
            <a:solidFill>
              <a:schemeClr val="lt1"/>
            </a:solidFill>
            <a:ln cap="flat" cmpd="sng" w="86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8" name="Google Shape;238;p27"/>
            <p:cNvSpPr txBox="1"/>
            <p:nvPr/>
          </p:nvSpPr>
          <p:spPr>
            <a:xfrm>
              <a:off x="4377500" y="179025"/>
              <a:ext cx="1031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125" lIns="83125" spcFirstLastPara="1" rIns="83125" wrap="square" tIns="83125">
              <a:normAutofit fontScale="55000"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182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Fichier VENTESEU</a:t>
              </a:r>
              <a:endParaRPr b="1" sz="1182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39" name="Google Shape;239;p27"/>
          <p:cNvCxnSpPr/>
          <p:nvPr/>
        </p:nvCxnSpPr>
        <p:spPr>
          <a:xfrm flipH="1">
            <a:off x="6349354" y="417109"/>
            <a:ext cx="600" cy="424800"/>
          </a:xfrm>
          <a:prstGeom prst="straightConnector1">
            <a:avLst/>
          </a:prstGeom>
          <a:noFill/>
          <a:ln cap="flat" cmpd="sng" w="86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27"/>
          <p:cNvCxnSpPr/>
          <p:nvPr/>
        </p:nvCxnSpPr>
        <p:spPr>
          <a:xfrm rot="10800000">
            <a:off x="6227610" y="416923"/>
            <a:ext cx="129300" cy="1800"/>
          </a:xfrm>
          <a:prstGeom prst="straightConnector1">
            <a:avLst/>
          </a:prstGeom>
          <a:noFill/>
          <a:ln cap="flat" cmpd="sng" w="86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1" name="Google Shape;241;p27"/>
          <p:cNvGrpSpPr/>
          <p:nvPr/>
        </p:nvGrpSpPr>
        <p:grpSpPr>
          <a:xfrm>
            <a:off x="5281739" y="704197"/>
            <a:ext cx="943581" cy="277155"/>
            <a:chOff x="4374350" y="179025"/>
            <a:chExt cx="1037700" cy="304800"/>
          </a:xfrm>
        </p:grpSpPr>
        <p:sp>
          <p:nvSpPr>
            <p:cNvPr id="242" name="Google Shape;242;p27"/>
            <p:cNvSpPr/>
            <p:nvPr/>
          </p:nvSpPr>
          <p:spPr>
            <a:xfrm>
              <a:off x="4374350" y="179025"/>
              <a:ext cx="1037700" cy="304800"/>
            </a:xfrm>
            <a:prstGeom prst="rect">
              <a:avLst/>
            </a:prstGeom>
            <a:solidFill>
              <a:schemeClr val="lt1"/>
            </a:solidFill>
            <a:ln cap="flat" cmpd="sng" w="86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3" name="Google Shape;243;p27"/>
            <p:cNvSpPr txBox="1"/>
            <p:nvPr/>
          </p:nvSpPr>
          <p:spPr>
            <a:xfrm>
              <a:off x="4377500" y="179025"/>
              <a:ext cx="1031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125" lIns="83125" spcFirstLastPara="1" rIns="83125" wrap="square" tIns="83125">
              <a:normAutofit fontScale="55000"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182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Fichier VENTESAS</a:t>
              </a:r>
              <a:endParaRPr b="1" sz="1182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44" name="Google Shape;244;p27"/>
          <p:cNvCxnSpPr>
            <a:endCxn id="243" idx="3"/>
          </p:cNvCxnSpPr>
          <p:nvPr/>
        </p:nvCxnSpPr>
        <p:spPr>
          <a:xfrm flipH="1">
            <a:off x="6222455" y="841274"/>
            <a:ext cx="126000" cy="1500"/>
          </a:xfrm>
          <a:prstGeom prst="straightConnector1">
            <a:avLst/>
          </a:prstGeom>
          <a:noFill/>
          <a:ln cap="flat" cmpd="sng" w="86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27"/>
          <p:cNvCxnSpPr>
            <a:endCxn id="234" idx="1"/>
          </p:cNvCxnSpPr>
          <p:nvPr/>
        </p:nvCxnSpPr>
        <p:spPr>
          <a:xfrm>
            <a:off x="6357072" y="455157"/>
            <a:ext cx="113100" cy="5100"/>
          </a:xfrm>
          <a:prstGeom prst="straightConnector1">
            <a:avLst/>
          </a:prstGeom>
          <a:noFill/>
          <a:ln cap="flat" cmpd="sng" w="86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46" name="Google Shape;246;p27"/>
          <p:cNvGrpSpPr/>
          <p:nvPr/>
        </p:nvGrpSpPr>
        <p:grpSpPr>
          <a:xfrm>
            <a:off x="6473497" y="1459565"/>
            <a:ext cx="1881433" cy="324347"/>
            <a:chOff x="5998825" y="193800"/>
            <a:chExt cx="2069100" cy="356700"/>
          </a:xfrm>
        </p:grpSpPr>
        <p:sp>
          <p:nvSpPr>
            <p:cNvPr id="247" name="Google Shape;247;p27"/>
            <p:cNvSpPr/>
            <p:nvPr/>
          </p:nvSpPr>
          <p:spPr>
            <a:xfrm>
              <a:off x="5998825" y="193800"/>
              <a:ext cx="2069100" cy="356700"/>
            </a:xfrm>
            <a:prstGeom prst="rect">
              <a:avLst/>
            </a:prstGeom>
            <a:solidFill>
              <a:schemeClr val="lt1"/>
            </a:solidFill>
            <a:ln cap="flat" cmpd="sng" w="6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9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8" name="Google Shape;248;p27"/>
            <p:cNvSpPr txBox="1"/>
            <p:nvPr/>
          </p:nvSpPr>
          <p:spPr>
            <a:xfrm>
              <a:off x="6208725" y="193800"/>
              <a:ext cx="1710000" cy="2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275" lIns="65275" spcFirstLastPara="1" rIns="65275" wrap="square" tIns="6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746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INSERT INTO ORDERS</a:t>
              </a:r>
              <a:endParaRPr sz="928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9" name="Google Shape;249;p27"/>
          <p:cNvGrpSpPr/>
          <p:nvPr/>
        </p:nvGrpSpPr>
        <p:grpSpPr>
          <a:xfrm>
            <a:off x="6473497" y="2061405"/>
            <a:ext cx="1881433" cy="324347"/>
            <a:chOff x="5998825" y="193800"/>
            <a:chExt cx="2069100" cy="356700"/>
          </a:xfrm>
        </p:grpSpPr>
        <p:sp>
          <p:nvSpPr>
            <p:cNvPr id="250" name="Google Shape;250;p27"/>
            <p:cNvSpPr/>
            <p:nvPr/>
          </p:nvSpPr>
          <p:spPr>
            <a:xfrm>
              <a:off x="5998825" y="193800"/>
              <a:ext cx="2069100" cy="356700"/>
            </a:xfrm>
            <a:prstGeom prst="rect">
              <a:avLst/>
            </a:prstGeom>
            <a:solidFill>
              <a:schemeClr val="lt1"/>
            </a:solidFill>
            <a:ln cap="flat" cmpd="sng" w="6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9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1" name="Google Shape;251;p27"/>
            <p:cNvSpPr txBox="1"/>
            <p:nvPr/>
          </p:nvSpPr>
          <p:spPr>
            <a:xfrm>
              <a:off x="6208725" y="193800"/>
              <a:ext cx="1710000" cy="2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275" lIns="65275" spcFirstLastPara="1" rIns="65275" wrap="square" tIns="6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746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INSERT INTO ITEMS</a:t>
              </a:r>
              <a:endParaRPr sz="928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2" name="Google Shape;252;p27"/>
          <p:cNvGrpSpPr/>
          <p:nvPr/>
        </p:nvGrpSpPr>
        <p:grpSpPr>
          <a:xfrm>
            <a:off x="6473497" y="3343762"/>
            <a:ext cx="1881433" cy="361720"/>
            <a:chOff x="5998825" y="193800"/>
            <a:chExt cx="2069100" cy="397800"/>
          </a:xfrm>
        </p:grpSpPr>
        <p:sp>
          <p:nvSpPr>
            <p:cNvPr id="253" name="Google Shape;253;p27"/>
            <p:cNvSpPr/>
            <p:nvPr/>
          </p:nvSpPr>
          <p:spPr>
            <a:xfrm>
              <a:off x="5998825" y="193800"/>
              <a:ext cx="2069100" cy="356700"/>
            </a:xfrm>
            <a:prstGeom prst="rect">
              <a:avLst/>
            </a:prstGeom>
            <a:solidFill>
              <a:schemeClr val="lt1"/>
            </a:solidFill>
            <a:ln cap="flat" cmpd="sng" w="6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9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" name="Google Shape;254;p27"/>
            <p:cNvSpPr txBox="1"/>
            <p:nvPr/>
          </p:nvSpPr>
          <p:spPr>
            <a:xfrm>
              <a:off x="6208725" y="193800"/>
              <a:ext cx="1710000" cy="39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275" lIns="65275" spcFirstLastPara="1" rIns="65275" wrap="square" tIns="6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746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MISE À JOUR DES STOCKS DANS PRODUCTS</a:t>
              </a:r>
              <a:endParaRPr b="1" sz="746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5" name="Google Shape;255;p27"/>
          <p:cNvGrpSpPr/>
          <p:nvPr/>
        </p:nvGrpSpPr>
        <p:grpSpPr>
          <a:xfrm>
            <a:off x="6473497" y="3938896"/>
            <a:ext cx="1881433" cy="361720"/>
            <a:chOff x="5998825" y="193800"/>
            <a:chExt cx="2069100" cy="397800"/>
          </a:xfrm>
        </p:grpSpPr>
        <p:sp>
          <p:nvSpPr>
            <p:cNvPr id="256" name="Google Shape;256;p27"/>
            <p:cNvSpPr/>
            <p:nvPr/>
          </p:nvSpPr>
          <p:spPr>
            <a:xfrm>
              <a:off x="5998825" y="193800"/>
              <a:ext cx="2069100" cy="356700"/>
            </a:xfrm>
            <a:prstGeom prst="rect">
              <a:avLst/>
            </a:prstGeom>
            <a:solidFill>
              <a:schemeClr val="lt1"/>
            </a:solidFill>
            <a:ln cap="flat" cmpd="sng" w="6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9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" name="Google Shape;257;p27"/>
            <p:cNvSpPr txBox="1"/>
            <p:nvPr/>
          </p:nvSpPr>
          <p:spPr>
            <a:xfrm>
              <a:off x="6208725" y="193800"/>
              <a:ext cx="1710000" cy="39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275" lIns="65275" spcFirstLastPara="1" rIns="65275" wrap="square" tIns="6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746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MISE À JOUR DE LA BALANCE CLIENT DANS CUSTOMERS</a:t>
              </a:r>
              <a:endParaRPr b="1" sz="746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8" name="Google Shape;258;p27"/>
          <p:cNvGrpSpPr/>
          <p:nvPr/>
        </p:nvGrpSpPr>
        <p:grpSpPr>
          <a:xfrm>
            <a:off x="6473497" y="4534030"/>
            <a:ext cx="1881433" cy="324347"/>
            <a:chOff x="5998825" y="193800"/>
            <a:chExt cx="2069100" cy="356700"/>
          </a:xfrm>
        </p:grpSpPr>
        <p:sp>
          <p:nvSpPr>
            <p:cNvPr id="259" name="Google Shape;259;p27"/>
            <p:cNvSpPr/>
            <p:nvPr/>
          </p:nvSpPr>
          <p:spPr>
            <a:xfrm>
              <a:off x="5998825" y="193800"/>
              <a:ext cx="2069100" cy="356700"/>
            </a:xfrm>
            <a:prstGeom prst="rect">
              <a:avLst/>
            </a:prstGeom>
            <a:solidFill>
              <a:schemeClr val="lt1"/>
            </a:solidFill>
            <a:ln cap="flat" cmpd="sng" w="6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9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0" name="Google Shape;260;p27"/>
            <p:cNvSpPr txBox="1"/>
            <p:nvPr/>
          </p:nvSpPr>
          <p:spPr>
            <a:xfrm>
              <a:off x="6208725" y="193800"/>
              <a:ext cx="1710000" cy="2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275" lIns="65275" spcFirstLastPara="1" rIns="65275" wrap="square" tIns="6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746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COMMIT GLOBAL</a:t>
              </a:r>
              <a:endParaRPr b="1" sz="746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1" name="Google Shape;261;p27"/>
          <p:cNvGrpSpPr/>
          <p:nvPr/>
        </p:nvGrpSpPr>
        <p:grpSpPr>
          <a:xfrm>
            <a:off x="5043475" y="3302474"/>
            <a:ext cx="1044201" cy="477689"/>
            <a:chOff x="4513150" y="2876675"/>
            <a:chExt cx="1213200" cy="555000"/>
          </a:xfrm>
        </p:grpSpPr>
        <p:sp>
          <p:nvSpPr>
            <p:cNvPr id="262" name="Google Shape;262;p27"/>
            <p:cNvSpPr/>
            <p:nvPr/>
          </p:nvSpPr>
          <p:spPr>
            <a:xfrm>
              <a:off x="4513150" y="2876675"/>
              <a:ext cx="1213200" cy="555000"/>
            </a:xfrm>
            <a:prstGeom prst="rect">
              <a:avLst/>
            </a:prstGeom>
            <a:solidFill>
              <a:schemeClr val="lt1"/>
            </a:solidFill>
            <a:ln cap="flat" cmpd="sng" w="8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675" lIns="78675" spcFirstLastPara="1" rIns="78675" wrap="square" tIns="78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4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3" name="Google Shape;263;p27"/>
            <p:cNvSpPr txBox="1"/>
            <p:nvPr/>
          </p:nvSpPr>
          <p:spPr>
            <a:xfrm>
              <a:off x="4517650" y="2876675"/>
              <a:ext cx="1204200" cy="55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8675" lIns="78675" spcFirstLastPara="1" rIns="78675" wrap="square" tIns="78675">
              <a:normAutofit lnSpcReduction="10000"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18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Si nouveau stock &lt; seuil</a:t>
              </a:r>
              <a:endParaRPr sz="1118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4" name="Google Shape;264;p27"/>
          <p:cNvGrpSpPr/>
          <p:nvPr/>
        </p:nvGrpSpPr>
        <p:grpSpPr>
          <a:xfrm>
            <a:off x="5043475" y="4006360"/>
            <a:ext cx="1044201" cy="477689"/>
            <a:chOff x="4513150" y="2876675"/>
            <a:chExt cx="1213200" cy="555000"/>
          </a:xfrm>
        </p:grpSpPr>
        <p:sp>
          <p:nvSpPr>
            <p:cNvPr id="265" name="Google Shape;265;p27"/>
            <p:cNvSpPr/>
            <p:nvPr/>
          </p:nvSpPr>
          <p:spPr>
            <a:xfrm>
              <a:off x="4513150" y="2876675"/>
              <a:ext cx="1213200" cy="555000"/>
            </a:xfrm>
            <a:prstGeom prst="rect">
              <a:avLst/>
            </a:prstGeom>
            <a:solidFill>
              <a:schemeClr val="lt1"/>
            </a:solidFill>
            <a:ln cap="flat" cmpd="sng" w="8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675" lIns="78675" spcFirstLastPara="1" rIns="78675" wrap="square" tIns="78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4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6" name="Google Shape;266;p27"/>
            <p:cNvSpPr txBox="1"/>
            <p:nvPr/>
          </p:nvSpPr>
          <p:spPr>
            <a:xfrm>
              <a:off x="4517650" y="2876675"/>
              <a:ext cx="1204200" cy="55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8675" lIns="78675" spcFirstLastPara="1" rIns="78675" wrap="square" tIns="78675">
              <a:normAutofit fontScale="77500"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118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ÉCRITURE</a:t>
              </a:r>
              <a:r>
                <a:rPr b="1" lang="fr" sz="1118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 F-REA (REAPPRO)</a:t>
              </a:r>
              <a:endParaRPr b="1" sz="1118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67" name="Google Shape;267;p27"/>
          <p:cNvCxnSpPr/>
          <p:nvPr/>
        </p:nvCxnSpPr>
        <p:spPr>
          <a:xfrm flipH="1">
            <a:off x="7336221" y="630657"/>
            <a:ext cx="300" cy="323100"/>
          </a:xfrm>
          <a:prstGeom prst="straightConnector1">
            <a:avLst/>
          </a:prstGeom>
          <a:noFill/>
          <a:ln cap="flat" cmpd="sng" w="86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27"/>
          <p:cNvCxnSpPr/>
          <p:nvPr/>
        </p:nvCxnSpPr>
        <p:spPr>
          <a:xfrm flipH="1">
            <a:off x="7338728" y="1787911"/>
            <a:ext cx="1800" cy="270900"/>
          </a:xfrm>
          <a:prstGeom prst="straightConnector1">
            <a:avLst/>
          </a:prstGeom>
          <a:noFill/>
          <a:ln cap="flat" cmpd="sng" w="86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27"/>
          <p:cNvCxnSpPr/>
          <p:nvPr/>
        </p:nvCxnSpPr>
        <p:spPr>
          <a:xfrm flipH="1">
            <a:off x="7338728" y="2389057"/>
            <a:ext cx="1800" cy="270900"/>
          </a:xfrm>
          <a:prstGeom prst="straightConnector1">
            <a:avLst/>
          </a:prstGeom>
          <a:noFill/>
          <a:ln cap="flat" cmpd="sng" w="86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27"/>
          <p:cNvCxnSpPr/>
          <p:nvPr/>
        </p:nvCxnSpPr>
        <p:spPr>
          <a:xfrm flipH="1">
            <a:off x="7338728" y="3683383"/>
            <a:ext cx="1800" cy="270900"/>
          </a:xfrm>
          <a:prstGeom prst="straightConnector1">
            <a:avLst/>
          </a:prstGeom>
          <a:noFill/>
          <a:ln cap="flat" cmpd="sng" w="86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27"/>
          <p:cNvCxnSpPr/>
          <p:nvPr/>
        </p:nvCxnSpPr>
        <p:spPr>
          <a:xfrm flipH="1">
            <a:off x="7338728" y="4263139"/>
            <a:ext cx="1800" cy="270900"/>
          </a:xfrm>
          <a:prstGeom prst="straightConnector1">
            <a:avLst/>
          </a:prstGeom>
          <a:noFill/>
          <a:ln cap="flat" cmpd="sng" w="86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27"/>
          <p:cNvCxnSpPr>
            <a:endCxn id="263" idx="3"/>
          </p:cNvCxnSpPr>
          <p:nvPr/>
        </p:nvCxnSpPr>
        <p:spPr>
          <a:xfrm rot="10800000">
            <a:off x="6083803" y="3541319"/>
            <a:ext cx="379800" cy="0"/>
          </a:xfrm>
          <a:prstGeom prst="straightConnector1">
            <a:avLst/>
          </a:prstGeom>
          <a:noFill/>
          <a:ln cap="flat" cmpd="sng" w="86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27"/>
          <p:cNvCxnSpPr>
            <a:stCxn id="263" idx="2"/>
            <a:endCxn id="266" idx="0"/>
          </p:cNvCxnSpPr>
          <p:nvPr/>
        </p:nvCxnSpPr>
        <p:spPr>
          <a:xfrm>
            <a:off x="5565576" y="3780163"/>
            <a:ext cx="0" cy="226200"/>
          </a:xfrm>
          <a:prstGeom prst="straightConnector1">
            <a:avLst/>
          </a:prstGeom>
          <a:noFill/>
          <a:ln cap="flat" cmpd="sng" w="86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74" name="Google Shape;274;p27"/>
          <p:cNvGrpSpPr/>
          <p:nvPr/>
        </p:nvGrpSpPr>
        <p:grpSpPr>
          <a:xfrm>
            <a:off x="6466859" y="2663245"/>
            <a:ext cx="1881433" cy="361720"/>
            <a:chOff x="5998825" y="193800"/>
            <a:chExt cx="2069100" cy="397800"/>
          </a:xfrm>
        </p:grpSpPr>
        <p:sp>
          <p:nvSpPr>
            <p:cNvPr id="275" name="Google Shape;275;p27"/>
            <p:cNvSpPr/>
            <p:nvPr/>
          </p:nvSpPr>
          <p:spPr>
            <a:xfrm>
              <a:off x="5998825" y="193800"/>
              <a:ext cx="2069100" cy="356700"/>
            </a:xfrm>
            <a:prstGeom prst="rect">
              <a:avLst/>
            </a:prstGeom>
            <a:solidFill>
              <a:schemeClr val="lt1"/>
            </a:solidFill>
            <a:ln cap="flat" cmpd="sng" w="6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9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6" name="Google Shape;276;p27"/>
            <p:cNvSpPr txBox="1"/>
            <p:nvPr/>
          </p:nvSpPr>
          <p:spPr>
            <a:xfrm>
              <a:off x="6208725" y="193800"/>
              <a:ext cx="1710000" cy="39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275" lIns="65275" spcFirstLastPara="1" rIns="65275" wrap="square" tIns="65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746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LECTURE FICHIER STOCKS</a:t>
              </a:r>
              <a:endParaRPr b="1" sz="746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746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clé → id produit</a:t>
              </a:r>
              <a:endParaRPr b="1" sz="746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77" name="Google Shape;277;p27"/>
          <p:cNvCxnSpPr/>
          <p:nvPr/>
        </p:nvCxnSpPr>
        <p:spPr>
          <a:xfrm flipH="1">
            <a:off x="7332090" y="2990897"/>
            <a:ext cx="1800" cy="270900"/>
          </a:xfrm>
          <a:prstGeom prst="straightConnector1">
            <a:avLst/>
          </a:prstGeom>
          <a:noFill/>
          <a:ln cap="flat" cmpd="sng" w="86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27"/>
          <p:cNvSpPr/>
          <p:nvPr/>
        </p:nvSpPr>
        <p:spPr>
          <a:xfrm>
            <a:off x="6472525" y="976825"/>
            <a:ext cx="1913400" cy="323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6491975" y="983300"/>
            <a:ext cx="185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Synchronisation 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/>
          <p:nvPr>
            <p:ph type="title"/>
          </p:nvPr>
        </p:nvSpPr>
        <p:spPr>
          <a:xfrm>
            <a:off x="311725" y="4490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PROGRAMME DB2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DB2PART2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8"/>
          <p:cNvSpPr txBox="1"/>
          <p:nvPr>
            <p:ph idx="12" type="sldNum"/>
          </p:nvPr>
        </p:nvSpPr>
        <p:spPr>
          <a:xfrm>
            <a:off x="8597826" y="4737843"/>
            <a:ext cx="498900" cy="357900"/>
          </a:xfrm>
          <a:prstGeom prst="rect">
            <a:avLst/>
          </a:prstGeom>
        </p:spPr>
        <p:txBody>
          <a:bodyPr anchorCtr="0" anchor="ctr" bIns="83125" lIns="83125" spcFirstLastPara="1" rIns="83125" wrap="square" tIns="831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9"/>
              <a:t>‹#›</a:t>
            </a:fld>
            <a:endParaRPr sz="909"/>
          </a:p>
        </p:txBody>
      </p:sp>
      <p:sp>
        <p:nvSpPr>
          <p:cNvPr id="286" name="Google Shape;286;p28"/>
          <p:cNvSpPr txBox="1"/>
          <p:nvPr/>
        </p:nvSpPr>
        <p:spPr>
          <a:xfrm>
            <a:off x="699850" y="1783900"/>
            <a:ext cx="2438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Synchronisation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87" name="Google Shape;287;p28"/>
          <p:cNvGrpSpPr/>
          <p:nvPr/>
        </p:nvGrpSpPr>
        <p:grpSpPr>
          <a:xfrm>
            <a:off x="4543064" y="89755"/>
            <a:ext cx="3927397" cy="4857045"/>
            <a:chOff x="4838700" y="107000"/>
            <a:chExt cx="3637826" cy="4498931"/>
          </a:xfrm>
        </p:grpSpPr>
        <p:pic>
          <p:nvPicPr>
            <p:cNvPr id="288" name="Google Shape;288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38700" y="107000"/>
              <a:ext cx="3637824" cy="2154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38700" y="2261050"/>
              <a:ext cx="3637825" cy="1969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38700" y="4230074"/>
              <a:ext cx="3637826" cy="375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1" name="Google Shape;291;p28"/>
          <p:cNvSpPr txBox="1"/>
          <p:nvPr/>
        </p:nvSpPr>
        <p:spPr>
          <a:xfrm>
            <a:off x="537725" y="2539975"/>
            <a:ext cx="3067800" cy="21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 cas pour lire commande par commande.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Sécurité en cas d’anomalies.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311725" y="4490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PROGRAMME DB2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DB2PART2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"/>
          <p:cNvSpPr txBox="1"/>
          <p:nvPr>
            <p:ph idx="12" type="sldNum"/>
          </p:nvPr>
        </p:nvSpPr>
        <p:spPr>
          <a:xfrm>
            <a:off x="8597826" y="4737843"/>
            <a:ext cx="498900" cy="357900"/>
          </a:xfrm>
          <a:prstGeom prst="rect">
            <a:avLst/>
          </a:prstGeom>
        </p:spPr>
        <p:txBody>
          <a:bodyPr anchorCtr="0" anchor="ctr" bIns="83125" lIns="83125" spcFirstLastPara="1" rIns="83125" wrap="square" tIns="831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9"/>
              <a:t>‹#›</a:t>
            </a:fld>
            <a:endParaRPr sz="909"/>
          </a:p>
        </p:txBody>
      </p:sp>
      <p:sp>
        <p:nvSpPr>
          <p:cNvPr id="298" name="Google Shape;298;p29"/>
          <p:cNvSpPr txBox="1"/>
          <p:nvPr/>
        </p:nvSpPr>
        <p:spPr>
          <a:xfrm>
            <a:off x="699850" y="1576350"/>
            <a:ext cx="2438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Requêtes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9" name="Google Shape;29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13" y="2101651"/>
            <a:ext cx="4137525" cy="86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850" y="3246977"/>
            <a:ext cx="2503425" cy="144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4275" y="352424"/>
            <a:ext cx="4137499" cy="978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9572" y="1504187"/>
            <a:ext cx="2386899" cy="10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73899" y="2728286"/>
            <a:ext cx="3418254" cy="97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07175" y="3874449"/>
            <a:ext cx="3951707" cy="97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/>
          <p:nvPr>
            <p:ph type="title"/>
          </p:nvPr>
        </p:nvSpPr>
        <p:spPr>
          <a:xfrm>
            <a:off x="311725" y="4490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PROGRAMME DB2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DB2PART2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11" name="Google Shape;311;p30"/>
          <p:cNvSpPr txBox="1"/>
          <p:nvPr/>
        </p:nvSpPr>
        <p:spPr>
          <a:xfrm>
            <a:off x="686000" y="1823275"/>
            <a:ext cx="2438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30"/>
          <p:cNvSpPr txBox="1"/>
          <p:nvPr/>
        </p:nvSpPr>
        <p:spPr>
          <a:xfrm>
            <a:off x="429775" y="1576800"/>
            <a:ext cx="3470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3" name="Google Shape;3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1338" y="171924"/>
            <a:ext cx="4529799" cy="58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2588" y="850375"/>
            <a:ext cx="462729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2600" y="2092202"/>
            <a:ext cx="4627276" cy="243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0" title="ITEM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0925" y="2179598"/>
            <a:ext cx="3068099" cy="28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0"/>
          <p:cNvSpPr/>
          <p:nvPr/>
        </p:nvSpPr>
        <p:spPr>
          <a:xfrm>
            <a:off x="3839150" y="3383175"/>
            <a:ext cx="460500" cy="29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4314625" y="1400850"/>
            <a:ext cx="4829100" cy="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0"/>
          <p:cNvSpPr txBox="1"/>
          <p:nvPr/>
        </p:nvSpPr>
        <p:spPr>
          <a:xfrm>
            <a:off x="5258875" y="1746525"/>
            <a:ext cx="27837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UPDATE ITEMS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25" name="Google Shape;325;p31"/>
          <p:cNvSpPr txBox="1"/>
          <p:nvPr/>
        </p:nvSpPr>
        <p:spPr>
          <a:xfrm>
            <a:off x="686000" y="1823275"/>
            <a:ext cx="2438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6" name="Google Shape;3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775" y="3004275"/>
            <a:ext cx="2161149" cy="197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9525" y="3004275"/>
            <a:ext cx="4581625" cy="159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9525" y="533299"/>
            <a:ext cx="4581627" cy="1663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1" title="ORDER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5775" y="604642"/>
            <a:ext cx="2161150" cy="164003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1"/>
          <p:cNvSpPr/>
          <p:nvPr/>
        </p:nvSpPr>
        <p:spPr>
          <a:xfrm>
            <a:off x="1869250" y="2351925"/>
            <a:ext cx="454200" cy="54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6503238" y="2328050"/>
            <a:ext cx="454200" cy="54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31"/>
          <p:cNvSpPr txBox="1"/>
          <p:nvPr/>
        </p:nvSpPr>
        <p:spPr>
          <a:xfrm>
            <a:off x="5731450" y="189000"/>
            <a:ext cx="20823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UPDATE BALANCE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1015775" y="201900"/>
            <a:ext cx="20823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UPDATE ORDERS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39" name="Google Shape;33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3221" y="12"/>
            <a:ext cx="4767625" cy="9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100" y="196500"/>
            <a:ext cx="2896624" cy="1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100" y="1462175"/>
            <a:ext cx="2896624" cy="1109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100" y="2715175"/>
            <a:ext cx="2896625" cy="1102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3100" y="3930972"/>
            <a:ext cx="2896624" cy="11258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4" name="Google Shape;344;p32"/>
          <p:cNvCxnSpPr/>
          <p:nvPr/>
        </p:nvCxnSpPr>
        <p:spPr>
          <a:xfrm>
            <a:off x="3975375" y="743325"/>
            <a:ext cx="22200" cy="3656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2"/>
          <p:cNvCxnSpPr>
            <a:stCxn id="341" idx="3"/>
          </p:cNvCxnSpPr>
          <p:nvPr/>
        </p:nvCxnSpPr>
        <p:spPr>
          <a:xfrm>
            <a:off x="3579724" y="2016961"/>
            <a:ext cx="408600" cy="4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32"/>
          <p:cNvCxnSpPr/>
          <p:nvPr/>
        </p:nvCxnSpPr>
        <p:spPr>
          <a:xfrm>
            <a:off x="3579724" y="3129311"/>
            <a:ext cx="408600" cy="4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32"/>
          <p:cNvCxnSpPr/>
          <p:nvPr/>
        </p:nvCxnSpPr>
        <p:spPr>
          <a:xfrm>
            <a:off x="3579724" y="4390836"/>
            <a:ext cx="408600" cy="4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2"/>
          <p:cNvCxnSpPr>
            <a:stCxn id="340" idx="3"/>
          </p:cNvCxnSpPr>
          <p:nvPr/>
        </p:nvCxnSpPr>
        <p:spPr>
          <a:xfrm flipH="1" rot="10800000">
            <a:off x="3579725" y="743412"/>
            <a:ext cx="738600" cy="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49" name="Google Shape;349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85925" y="1101700"/>
            <a:ext cx="3797299" cy="183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85925" y="3162450"/>
            <a:ext cx="3797300" cy="1673726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2"/>
          <p:cNvSpPr/>
          <p:nvPr/>
        </p:nvSpPr>
        <p:spPr>
          <a:xfrm>
            <a:off x="6602075" y="2970663"/>
            <a:ext cx="165000" cy="157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2"/>
          <p:cNvSpPr/>
          <p:nvPr/>
        </p:nvSpPr>
        <p:spPr>
          <a:xfrm>
            <a:off x="4316500" y="1038625"/>
            <a:ext cx="4827600" cy="28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III/ Génération des factures</a:t>
            </a:r>
            <a:endParaRPr/>
          </a:p>
        </p:txBody>
      </p:sp>
      <p:sp>
        <p:nvSpPr>
          <p:cNvPr id="358" name="Google Shape;358;p33"/>
          <p:cNvSpPr txBox="1"/>
          <p:nvPr>
            <p:ph idx="1" type="body"/>
          </p:nvPr>
        </p:nvSpPr>
        <p:spPr>
          <a:xfrm>
            <a:off x="4644675" y="500925"/>
            <a:ext cx="4166400" cy="416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-30495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Export des données dans PROJET.EXTRACT.DATA</a:t>
            </a:r>
            <a:endParaRPr/>
          </a:p>
          <a:p>
            <a:pPr indent="-29321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"/>
              <a:t>Programme : PJG4EXT</a:t>
            </a:r>
            <a:endParaRPr/>
          </a:p>
          <a:p>
            <a:pPr indent="-29321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"/>
              <a:t>JCL:</a:t>
            </a:r>
            <a:endParaRPr/>
          </a:p>
          <a:p>
            <a:pPr indent="-293211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fr"/>
              <a:t>EXECEXT :</a:t>
            </a:r>
            <a:endParaRPr/>
          </a:p>
          <a:p>
            <a:pPr indent="-293211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Compiler PJG4EXT</a:t>
            </a:r>
            <a:endParaRPr/>
          </a:p>
          <a:p>
            <a:pPr indent="-293211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Lier à DB2</a:t>
            </a:r>
            <a:endParaRPr/>
          </a:p>
          <a:p>
            <a:pPr indent="-293211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Exécuter PJG4EXT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95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Génération des factures dans PROJET.FACTURES.DATA</a:t>
            </a:r>
            <a:endParaRPr/>
          </a:p>
          <a:p>
            <a:pPr indent="-304958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" sz="1300"/>
              <a:t>Programme : PJG4FACT</a:t>
            </a:r>
            <a:endParaRPr sz="1300"/>
          </a:p>
          <a:p>
            <a:pPr indent="-304958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" sz="1300"/>
              <a:t>Sous-programme : PJG4DATE</a:t>
            </a:r>
            <a:endParaRPr sz="1300"/>
          </a:p>
          <a:p>
            <a:pPr indent="-304958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" sz="1300"/>
              <a:t>JCL :</a:t>
            </a:r>
            <a:endParaRPr sz="1300"/>
          </a:p>
          <a:p>
            <a:pPr indent="-293211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fr"/>
              <a:t>COMPDATE : </a:t>
            </a:r>
            <a:endParaRPr/>
          </a:p>
          <a:p>
            <a:pPr indent="-293211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Compiler PJG4DATE</a:t>
            </a:r>
            <a:endParaRPr/>
          </a:p>
          <a:p>
            <a:pPr indent="-293211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fr"/>
              <a:t>EXECFACT : </a:t>
            </a:r>
            <a:endParaRPr/>
          </a:p>
          <a:p>
            <a:pPr indent="-293211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Compiler PJG4FACT</a:t>
            </a:r>
            <a:endParaRPr/>
          </a:p>
          <a:p>
            <a:pPr indent="-293211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Exécuter PJG4FACT</a:t>
            </a:r>
            <a:endParaRPr/>
          </a:p>
        </p:txBody>
      </p:sp>
      <p:sp>
        <p:nvSpPr>
          <p:cNvPr id="359" name="Google Shape;35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"/>
          <p:cNvSpPr txBox="1"/>
          <p:nvPr>
            <p:ph type="title"/>
          </p:nvPr>
        </p:nvSpPr>
        <p:spPr>
          <a:xfrm>
            <a:off x="311725" y="62850"/>
            <a:ext cx="3706500" cy="49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f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Equi jointure avec la table Products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f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Filtrer par O_NO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f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Fetch d’une ligne de la table Items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4"/>
          <p:cNvSpPr txBox="1"/>
          <p:nvPr>
            <p:ph idx="1" type="body"/>
          </p:nvPr>
        </p:nvSpPr>
        <p:spPr>
          <a:xfrm>
            <a:off x="4644675" y="62850"/>
            <a:ext cx="4166400" cy="46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">
                <a:solidFill>
                  <a:schemeClr val="dk1"/>
                </a:solidFill>
              </a:rPr>
              <a:t>Tri ascendant sur O_NO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">
                <a:solidFill>
                  <a:schemeClr val="dk1"/>
                </a:solidFill>
              </a:rPr>
              <a:t>Equi jointure avec les tables 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>
                <a:solidFill>
                  <a:schemeClr val="dk1"/>
                </a:solidFill>
              </a:rPr>
              <a:t>Orders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>
                <a:solidFill>
                  <a:schemeClr val="dk1"/>
                </a:solidFill>
              </a:rPr>
              <a:t>Employees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>
                <a:solidFill>
                  <a:schemeClr val="dk1"/>
                </a:solidFill>
              </a:rPr>
              <a:t>Depts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">
                <a:solidFill>
                  <a:schemeClr val="dk1"/>
                </a:solidFill>
              </a:rPr>
              <a:t>Fetch d’une ligne de la table Customers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6" name="Google Shape;36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67" name="Google Shape;36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9182" y="1303700"/>
            <a:ext cx="2783520" cy="152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4" title="fetch_customers_sq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9001" y="3095588"/>
            <a:ext cx="2513700" cy="152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75" y="826788"/>
            <a:ext cx="4166401" cy="138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4" title="fetch_items_sq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850" y="3020025"/>
            <a:ext cx="3524250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33"/>
              <a:t>Export des données</a:t>
            </a:r>
            <a:endParaRPr sz="283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 sz="1800"/>
              <a:t>Structure du programme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5"/>
          <p:cNvSpPr txBox="1"/>
          <p:nvPr>
            <p:ph idx="1" type="body"/>
          </p:nvPr>
        </p:nvSpPr>
        <p:spPr>
          <a:xfrm>
            <a:off x="4632000" y="34237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Ouverture du curseur customers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Ouverture du fichier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Lecture de la première ligne du curseur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Boucle jusqu’à la fin du curseur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fr"/>
              <a:t>Récupération des lignes produits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fr" sz="1300"/>
              <a:t>Lecture prochaine ligne</a:t>
            </a:r>
            <a:r>
              <a:rPr lang="fr" sz="1300"/>
              <a:t> du curseur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Fermeture du curseur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Fermeture du fichiers</a:t>
            </a:r>
            <a:endParaRPr/>
          </a:p>
        </p:txBody>
      </p:sp>
      <p:sp>
        <p:nvSpPr>
          <p:cNvPr id="377" name="Google Shape;37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78" name="Google Shape;37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5338" y="2455475"/>
            <a:ext cx="3959725" cy="23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6"/>
          <p:cNvSpPr txBox="1"/>
          <p:nvPr>
            <p:ph type="title"/>
          </p:nvPr>
        </p:nvSpPr>
        <p:spPr>
          <a:xfrm>
            <a:off x="311725" y="500925"/>
            <a:ext cx="3706500" cy="41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33"/>
              <a:t>Export des données</a:t>
            </a:r>
            <a:endParaRPr sz="283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 sz="1800"/>
              <a:t>Résultat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300"/>
              <a:t>Structure du fichier 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/>
              <a:t>Fichier séquentiel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/>
              <a:t>Ligne de 320 caractères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/>
              <a:t>Tri Ascendant sur O_NO</a:t>
            </a:r>
            <a:endParaRPr sz="1300"/>
          </a:p>
        </p:txBody>
      </p:sp>
      <p:sp>
        <p:nvSpPr>
          <p:cNvPr id="384" name="Google Shape;384;p3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86" name="Google Shape;386;p36" title="ex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38" y="3492663"/>
            <a:ext cx="3915276" cy="110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6" title="ext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0387" y="438500"/>
            <a:ext cx="3974975" cy="103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6" title="ext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9001" y="1880950"/>
            <a:ext cx="4537750" cy="12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6" title="ext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73839" y="3329375"/>
            <a:ext cx="3308061" cy="161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Création de la facture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 sz="1800"/>
              <a:t>Structure du sous-programme (Date du jour)</a:t>
            </a:r>
            <a:endParaRPr/>
          </a:p>
        </p:txBody>
      </p:sp>
      <p:sp>
        <p:nvSpPr>
          <p:cNvPr id="395" name="Google Shape;395;p3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Récupération de la date du jour &amp; le jour de la semaine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Récupère le mois en toutes lettres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Récupère le jour de la semaine en toutes lettres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Génération de la date du jour en toutes lettres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97" name="Google Shape;39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4138" y="2139775"/>
            <a:ext cx="3967469" cy="182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Récupération de la tax entrée en sysin du JCL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Formater la date du jour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Ouverture des fichiers &amp; lecture de la première ligne du fichier EXTRACT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Récupération des données, puis création de la facture &amp; lecture de la ligne suivante jusqu’à la fin du fichier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Génération de la dernière facture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Fermeture des fichiers</a:t>
            </a:r>
            <a:endParaRPr/>
          </a:p>
        </p:txBody>
      </p:sp>
      <p:sp>
        <p:nvSpPr>
          <p:cNvPr id="403" name="Google Shape;40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04" name="Google Shape;4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7938" y="2943838"/>
            <a:ext cx="4339876" cy="1375187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33"/>
              <a:t>Création des factures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 sz="1800"/>
              <a:t>Structure du programme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9"/>
          <p:cNvSpPr txBox="1"/>
          <p:nvPr>
            <p:ph type="title"/>
          </p:nvPr>
        </p:nvSpPr>
        <p:spPr>
          <a:xfrm>
            <a:off x="311725" y="500925"/>
            <a:ext cx="3706500" cy="45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33"/>
              <a:t>Création des factures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 sz="1800"/>
              <a:t>Résultat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Partie client :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Partie date, commande et employé :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3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Partie produits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Partie valeurs calculée :</a:t>
            </a:r>
            <a:endParaRPr/>
          </a:p>
        </p:txBody>
      </p:sp>
      <p:sp>
        <p:nvSpPr>
          <p:cNvPr id="412" name="Google Shape;41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13" name="Google Shape;413;p39" title="cl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021" y="2710996"/>
            <a:ext cx="2688275" cy="110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9" title="date,commande &amp; employ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713" y="4329899"/>
            <a:ext cx="3563525" cy="6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9" title="produits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2758" y="843846"/>
            <a:ext cx="4030276" cy="71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9" title="produits 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12738" y="1619471"/>
            <a:ext cx="2203883" cy="730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9" title="valeurs calculé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83752" y="3208701"/>
            <a:ext cx="3088700" cy="128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Sous-programme LOGDATA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Structure du fichier :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f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Fichier séquentiel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f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Ligne de 200 caractères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3" name="Google Shape;423;p4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Structure du programme 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Récupère la date &amp; l’heure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Formate et écrit le log dans le fichier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fr"/>
              <a:t>Tri descendant sur la date &amp; l’heure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Résultat :</a:t>
            </a:r>
            <a:endParaRPr/>
          </a:p>
        </p:txBody>
      </p:sp>
      <p:sp>
        <p:nvSpPr>
          <p:cNvPr id="424" name="Google Shape;42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25" name="Google Shape;425;p40" title="proc_di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3300" y="1787525"/>
            <a:ext cx="4449150" cy="974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0" title="p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7938" y="3257975"/>
            <a:ext cx="4339876" cy="168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 title="p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7938" y="3653982"/>
            <a:ext cx="42481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1"/>
          <p:cNvSpPr txBox="1"/>
          <p:nvPr>
            <p:ph type="title"/>
          </p:nvPr>
        </p:nvSpPr>
        <p:spPr>
          <a:xfrm>
            <a:off x="45925" y="423400"/>
            <a:ext cx="4260300" cy="16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Partie 4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batchs Statistiques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1"/>
          <p:cNvSpPr txBox="1"/>
          <p:nvPr>
            <p:ph idx="1" type="body"/>
          </p:nvPr>
        </p:nvSpPr>
        <p:spPr>
          <a:xfrm>
            <a:off x="4419200" y="64175"/>
            <a:ext cx="4602000" cy="4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fr" sz="2295"/>
              <a:t>Statistique A — Cumul des quantités par produit sur 3 années</a:t>
            </a:r>
            <a:endParaRPr b="1" sz="2295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2295"/>
              <a:t>Objectif : offrir une vision de la performance des produits dans le temps.</a:t>
            </a:r>
            <a:endParaRPr sz="2295"/>
          </a:p>
          <a:p>
            <a:pPr indent="-308771" lvl="0" marL="457200" rtl="0" algn="l"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lang="fr" sz="2295"/>
              <a:t>Interroger DB2 sur l’historique des ventes</a:t>
            </a:r>
            <a:br>
              <a:rPr lang="fr" sz="2295"/>
            </a:br>
            <a:endParaRPr sz="2295"/>
          </a:p>
          <a:p>
            <a:pPr indent="-30877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lang="fr" sz="2295"/>
              <a:t>Regrouper les quantités par :</a:t>
            </a:r>
            <a:br>
              <a:rPr lang="fr" sz="2295"/>
            </a:br>
            <a:endParaRPr sz="2295"/>
          </a:p>
          <a:p>
            <a:pPr indent="-30877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○"/>
            </a:pPr>
            <a:r>
              <a:rPr lang="fr" sz="2295"/>
              <a:t>Année N</a:t>
            </a:r>
            <a:br>
              <a:rPr lang="fr" sz="2295"/>
            </a:br>
            <a:endParaRPr sz="2295"/>
          </a:p>
          <a:p>
            <a:pPr indent="-30877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○"/>
            </a:pPr>
            <a:r>
              <a:rPr lang="fr" sz="2295"/>
              <a:t>Année N–1</a:t>
            </a:r>
            <a:br>
              <a:rPr lang="fr" sz="2295"/>
            </a:br>
            <a:endParaRPr sz="2295"/>
          </a:p>
          <a:p>
            <a:pPr indent="-30877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○"/>
            </a:pPr>
            <a:r>
              <a:rPr lang="fr" sz="2295"/>
              <a:t>Année N–2</a:t>
            </a:r>
            <a:br>
              <a:rPr lang="fr" sz="2295"/>
            </a:br>
            <a:endParaRPr sz="2295"/>
          </a:p>
          <a:p>
            <a:pPr indent="-30877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fr" sz="2295"/>
              <a:t>trier les résultats </a:t>
            </a:r>
            <a:r>
              <a:rPr b="1" lang="fr" sz="2295"/>
              <a:t>par description de produit</a:t>
            </a:r>
            <a:br>
              <a:rPr b="1" lang="fr" sz="2295"/>
            </a:br>
            <a:endParaRPr b="1" sz="2295"/>
          </a:p>
          <a:p>
            <a:pPr indent="-30877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lang="fr" sz="2295"/>
              <a:t>formater les données dans un tableau clair</a:t>
            </a:r>
            <a:br>
              <a:rPr lang="fr" sz="2295"/>
            </a:br>
            <a:endParaRPr sz="2295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2295"/>
              <a:t>Objectif : offrir une vision de la performance des produits dans le temps.</a:t>
            </a:r>
            <a:endParaRPr sz="2295"/>
          </a:p>
          <a:p>
            <a:pPr indent="0" lvl="0" marL="0" rtl="0" algn="l">
              <a:spcBef>
                <a:spcPts val="1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Requête DB2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2"/>
          <p:cNvSpPr txBox="1"/>
          <p:nvPr>
            <p:ph idx="1" type="body"/>
          </p:nvPr>
        </p:nvSpPr>
        <p:spPr>
          <a:xfrm>
            <a:off x="4521750" y="500925"/>
            <a:ext cx="4499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BATCH 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Include des variables via DCLGEN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Préparation du curseur dans le working storage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Ouvre STATS.DATA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Lance un curseur SQL sur DB2 (produits + quantités N/N-1/N-2)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Parcourt les résultats avec FETCH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Formate et écrit chaque ligne dans STATS.DATA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Journalise toutes les étapes et erreurs</a:t>
            </a:r>
            <a:br>
              <a:rPr lang="fr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Ferme les fichiers et termine le traitement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intégration</a:t>
            </a:r>
            <a:r>
              <a:rPr lang="fr"/>
              <a:t> du sous programme LOG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42" name="Google Shape;442;p42" title="2025-12-01_11h55_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00" y="1652000"/>
            <a:ext cx="4278949" cy="256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3"/>
          <p:cNvSpPr txBox="1"/>
          <p:nvPr>
            <p:ph type="title"/>
          </p:nvPr>
        </p:nvSpPr>
        <p:spPr>
          <a:xfrm>
            <a:off x="311725" y="500925"/>
            <a:ext cx="3706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Boucle principale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3"/>
          <p:cNvSpPr txBox="1"/>
          <p:nvPr>
            <p:ph idx="1" type="body"/>
          </p:nvPr>
        </p:nvSpPr>
        <p:spPr>
          <a:xfrm>
            <a:off x="4644675" y="500925"/>
            <a:ext cx="4562700" cy="4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45720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03686" lvl="0" marL="457200" rtl="0" algn="l"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fr" sz="1525"/>
              <a:t>Premier Fetch et test de la récupération de données avant de rentrer dans la boucle</a:t>
            </a:r>
            <a:endParaRPr sz="1525"/>
          </a:p>
          <a:p>
            <a:pPr indent="0" lvl="0" marL="45720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525"/>
          </a:p>
          <a:p>
            <a:pPr indent="-293843" lvl="0" marL="457200" rtl="0" algn="l"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ct val="86891"/>
              <a:buFont typeface="Arial"/>
              <a:buChar char="●"/>
            </a:pPr>
            <a:r>
              <a:rPr lang="fr" sz="1525"/>
              <a:t>Ensuite ,on entre dans la boucle pour traiter l’ensemble des données avec la condition de sortie SQLCODE = 100</a:t>
            </a:r>
            <a:endParaRPr sz="1525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525"/>
          </a:p>
          <a:p>
            <a:pPr indent="-303686" lvl="0" marL="457200" rtl="0" algn="l"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fr" sz="1525"/>
              <a:t>SQLCODE = 100 signifie que le curseur a atteint la fin des données (pas d’autres enregistrements à récupérer).</a:t>
            </a:r>
            <a:br>
              <a:rPr lang="fr" sz="1525"/>
            </a:br>
            <a:endParaRPr sz="1525"/>
          </a:p>
          <a:p>
            <a:pPr indent="-303686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lang="fr" sz="1525"/>
              <a:t>La boucle continue tant qu’il reste des produits à afficher.</a:t>
            </a:r>
            <a:endParaRPr sz="1525"/>
          </a:p>
          <a:p>
            <a:pPr indent="0" lvl="0" marL="45720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50" name="Google Shape;450;p43" title="2025-12-03_11h31_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52" y="1341575"/>
            <a:ext cx="3866450" cy="34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4"/>
          <p:cNvSpPr txBox="1"/>
          <p:nvPr>
            <p:ph type="title"/>
          </p:nvPr>
        </p:nvSpPr>
        <p:spPr>
          <a:xfrm>
            <a:off x="45925" y="423400"/>
            <a:ext cx="4260300" cy="16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Partie 4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batchs Statistiques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4"/>
          <p:cNvSpPr txBox="1"/>
          <p:nvPr>
            <p:ph idx="1" type="body"/>
          </p:nvPr>
        </p:nvSpPr>
        <p:spPr>
          <a:xfrm>
            <a:off x="4644675" y="500925"/>
            <a:ext cx="437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fr" sz="2300">
                <a:latin typeface="Arial"/>
                <a:ea typeface="Arial"/>
                <a:cs typeface="Arial"/>
                <a:sym typeface="Arial"/>
              </a:rPr>
              <a:t>Statistique B — Cumul des ventes par ville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Le batch doit 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faire une jointure </a:t>
            </a:r>
            <a:r>
              <a:rPr b="1" lang="fr" sz="1100">
                <a:latin typeface="Arial"/>
                <a:ea typeface="Arial"/>
                <a:cs typeface="Arial"/>
                <a:sym typeface="Arial"/>
              </a:rPr>
              <a:t>commandes → clients</a:t>
            </a:r>
            <a:br>
              <a:rPr b="1" lang="fr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agréger le montant total des ventes par ville</a:t>
            </a:r>
            <a:br>
              <a:rPr lang="fr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afficher chaque ville avec son total</a:t>
            </a:r>
            <a:br>
              <a:rPr lang="fr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puis un </a:t>
            </a:r>
            <a:r>
              <a:rPr b="1" lang="fr" sz="1100">
                <a:latin typeface="Arial"/>
                <a:ea typeface="Arial"/>
                <a:cs typeface="Arial"/>
                <a:sym typeface="Arial"/>
              </a:rPr>
              <a:t>total général global</a:t>
            </a:r>
            <a:br>
              <a:rPr b="1" lang="fr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Format demandé dans le sujet :</a:t>
            </a:r>
            <a:br>
              <a:rPr lang="fr" sz="1100">
                <a:latin typeface="Arial"/>
                <a:ea typeface="Arial"/>
                <a:cs typeface="Arial"/>
                <a:sym typeface="Arial"/>
              </a:rPr>
            </a:br>
            <a:r>
              <a:rPr lang="fr" sz="1100">
                <a:latin typeface="Arial"/>
                <a:ea typeface="Arial"/>
                <a:cs typeface="Arial"/>
                <a:sym typeface="Arial"/>
              </a:rPr>
              <a:t> Un encadré avec montants formatés en dollars et alignés.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Objectif : analyser la répartition géographique du chiffre d’affaires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Requête DB2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5"/>
          <p:cNvSpPr txBox="1"/>
          <p:nvPr>
            <p:ph idx="1" type="body"/>
          </p:nvPr>
        </p:nvSpPr>
        <p:spPr>
          <a:xfrm>
            <a:off x="4477425" y="522450"/>
            <a:ext cx="4499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Jointure Clients → Commandes → Articles</a:t>
            </a:r>
            <a:br>
              <a:rPr lang="fr" sz="1200"/>
            </a:b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/>
              <a:t>Calcul du chiffre d’affaires : SUM(QUANTITY × PRICE)</a:t>
            </a:r>
            <a:br>
              <a:rPr lang="fr" sz="1200"/>
            </a:b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/>
              <a:t>Regroupement des résultats par ville</a:t>
            </a:r>
            <a:br>
              <a:rPr lang="fr" sz="1200"/>
            </a:b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/>
              <a:t>Tri alphabétique des villes pour un affichage lisible</a:t>
            </a:r>
            <a:br>
              <a:rPr lang="fr" sz="1200"/>
            </a:b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/>
              <a:t>Permet d’identifier les villes les plus contributrices au chiffre d’affaires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/>
              <a:t>Je vais avoir pour ce Batch le même type de boucle que pour le premier Batch A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65" name="Google Shape;465;p45" title="2025-12-01_12h14_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50" y="1214625"/>
            <a:ext cx="4048850" cy="291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/>
          <p:nvPr>
            <p:ph type="title"/>
          </p:nvPr>
        </p:nvSpPr>
        <p:spPr>
          <a:xfrm>
            <a:off x="311725" y="500925"/>
            <a:ext cx="37065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Affichage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6"/>
          <p:cNvSpPr txBox="1"/>
          <p:nvPr>
            <p:ph idx="1" type="body"/>
          </p:nvPr>
        </p:nvSpPr>
        <p:spPr>
          <a:xfrm>
            <a:off x="4572000" y="434475"/>
            <a:ext cx="41664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Ce code prépare l’affichage du chiffre d’affaires par ville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– gère les villes vides (“VILLE INCONNUE”),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– formate la ligne d’affichage des villes extraites de la base de donnée et des montant des ventes récupérées via la requête DB2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– écrit la ligne dans STATS.DATA et l’affiche dans le spool.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ps: ici j’utilise une variable stocké dans le dclgen et j’affiche le  texte en fonction de sa taille</a:t>
            </a:r>
            <a:endParaRPr/>
          </a:p>
        </p:txBody>
      </p:sp>
      <p:sp>
        <p:nvSpPr>
          <p:cNvPr id="472" name="Google Shape;47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73" name="Google Shape;473;p46" title="2025-12-01_12h28_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25" y="1365625"/>
            <a:ext cx="4037500" cy="25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7"/>
          <p:cNvSpPr txBox="1"/>
          <p:nvPr>
            <p:ph type="title"/>
          </p:nvPr>
        </p:nvSpPr>
        <p:spPr>
          <a:xfrm>
            <a:off x="128350" y="646350"/>
            <a:ext cx="4015800" cy="15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Partie 4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batchs Statistiques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7"/>
          <p:cNvSpPr txBox="1"/>
          <p:nvPr>
            <p:ph idx="1" type="body"/>
          </p:nvPr>
        </p:nvSpPr>
        <p:spPr>
          <a:xfrm>
            <a:off x="4644675" y="356925"/>
            <a:ext cx="4376400" cy="4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fr" sz="2300">
                <a:latin typeface="Arial"/>
                <a:ea typeface="Arial"/>
                <a:cs typeface="Arial"/>
                <a:sym typeface="Arial"/>
              </a:rPr>
              <a:t>Statistique C— Commissions par département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Ce bloc doit 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lister </a:t>
            </a:r>
            <a:r>
              <a:rPr b="1" lang="fr" sz="1100">
                <a:latin typeface="Arial"/>
                <a:ea typeface="Arial"/>
                <a:cs typeface="Arial"/>
                <a:sym typeface="Arial"/>
              </a:rPr>
              <a:t>tous les employés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, même ceux qui n’ont pas généré de commission</a:t>
            </a:r>
            <a:br>
              <a:rPr lang="fr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faire une jointure </a:t>
            </a:r>
            <a:r>
              <a:rPr b="1" lang="fr" sz="1100">
                <a:latin typeface="Arial"/>
                <a:ea typeface="Arial"/>
                <a:cs typeface="Arial"/>
                <a:sym typeface="Arial"/>
              </a:rPr>
              <a:t>employés → départements → commandes</a:t>
            </a:r>
            <a:br>
              <a:rPr b="1" lang="fr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calculer la commission totale par employé</a:t>
            </a:r>
            <a:br>
              <a:rPr lang="fr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cumuler la commission pour chaque département</a:t>
            </a:r>
            <a:br>
              <a:rPr lang="fr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puis produire un </a:t>
            </a:r>
            <a:r>
              <a:rPr b="1" lang="fr" sz="1100">
                <a:latin typeface="Arial"/>
                <a:ea typeface="Arial"/>
                <a:cs typeface="Arial"/>
                <a:sym typeface="Arial"/>
              </a:rPr>
              <a:t>bilan global (tous départements)</a:t>
            </a:r>
            <a:br>
              <a:rPr b="1" lang="fr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Objectif : suivre la performance commerciale par équipe.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8"/>
          <p:cNvSpPr txBox="1"/>
          <p:nvPr>
            <p:ph type="title"/>
          </p:nvPr>
        </p:nvSpPr>
        <p:spPr>
          <a:xfrm>
            <a:off x="84325" y="62850"/>
            <a:ext cx="39039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Requête DB2/ Includes DCLGEN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includes permettent de travailler </a:t>
            </a:r>
            <a:r>
              <a:rPr lang="fr"/>
              <a:t>directement</a:t>
            </a:r>
            <a:r>
              <a:rPr lang="fr"/>
              <a:t> avec les variables </a:t>
            </a:r>
            <a:r>
              <a:rPr lang="fr"/>
              <a:t>générés</a:t>
            </a:r>
            <a:r>
              <a:rPr lang="fr"/>
              <a:t> par le DCLGEN, j’importe ainsi la structure des bases de données utiles.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La requête joint départements, employés, commandes et items pour calculer, par employé 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le total des ventes et les commissions.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Les résultats sont regroupés par département et triés pour un affichage structuré.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latin typeface="Arial"/>
                <a:ea typeface="Arial"/>
                <a:cs typeface="Arial"/>
                <a:sym typeface="Arial"/>
              </a:rPr>
              <a:t>D.DNAME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: nom du département</a:t>
            </a:r>
            <a:br>
              <a:rPr lang="fr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latin typeface="Arial"/>
                <a:ea typeface="Arial"/>
                <a:cs typeface="Arial"/>
                <a:sym typeface="Arial"/>
              </a:rPr>
              <a:t>E.LNAME / E.FNAME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: nom et prénom de l’employé</a:t>
            </a:r>
            <a:br>
              <a:rPr lang="fr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latin typeface="Arial"/>
                <a:ea typeface="Arial"/>
                <a:cs typeface="Arial"/>
                <a:sym typeface="Arial"/>
              </a:rPr>
              <a:t>EMP_VENTES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: total des ventes de l’employé</a:t>
            </a:r>
            <a:br>
              <a:rPr lang="fr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latin typeface="Arial"/>
                <a:ea typeface="Arial"/>
                <a:cs typeface="Arial"/>
                <a:sym typeface="Arial"/>
              </a:rPr>
              <a:t>EMP_PRIMES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: total des commissions (vente × taux de commission)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88" name="Google Shape;488;p48" title="2025-12-01_12h47_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25" y="1315950"/>
            <a:ext cx="4088999" cy="28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Boucle Principale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2"/>
                </a:solidFill>
              </a:rPr>
              <a:t>On mémorise le nom du département (SAVE-DNAME)</a:t>
            </a:r>
            <a:br>
              <a:rPr lang="fr">
                <a:solidFill>
                  <a:schemeClr val="lt2"/>
                </a:solidFill>
              </a:rPr>
            </a:br>
            <a:r>
              <a:rPr lang="fr">
                <a:solidFill>
                  <a:schemeClr val="lt2"/>
                </a:solidFill>
              </a:rPr>
              <a:t>On affiche le header du département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2"/>
                </a:solidFill>
              </a:rPr>
              <a:t>On désactive FIRST-FETCH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2"/>
                </a:solidFill>
              </a:rPr>
              <a:t>Quand le département change :</a:t>
            </a:r>
            <a:endParaRPr>
              <a:solidFill>
                <a:schemeClr val="lt2"/>
              </a:solidFill>
            </a:endParaRPr>
          </a:p>
          <a:p>
            <a:pPr indent="-311150" lvl="0" marL="457200" rtl="0" algn="l"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Char char="●"/>
            </a:pPr>
            <a:r>
              <a:rPr lang="fr">
                <a:solidFill>
                  <a:schemeClr val="lt2"/>
                </a:solidFill>
              </a:rPr>
              <a:t>On imprime les totaux du département précédent.</a:t>
            </a:r>
            <a:br>
              <a:rPr lang="fr">
                <a:solidFill>
                  <a:schemeClr val="lt2"/>
                </a:solidFill>
              </a:rPr>
            </a:br>
            <a:endParaRPr>
              <a:solidFill>
                <a:schemeClr val="lt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Char char="●"/>
            </a:pPr>
            <a:r>
              <a:rPr lang="fr">
                <a:solidFill>
                  <a:schemeClr val="lt2"/>
                </a:solidFill>
              </a:rPr>
              <a:t>On met à jour SAVE-DNAME avec le nouveau département.</a:t>
            </a:r>
            <a:br>
              <a:rPr lang="fr">
                <a:solidFill>
                  <a:schemeClr val="lt2"/>
                </a:solidFill>
              </a:rPr>
            </a:br>
            <a:endParaRPr>
              <a:solidFill>
                <a:schemeClr val="lt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lang="fr">
                <a:solidFill>
                  <a:schemeClr val="lt2"/>
                </a:solidFill>
              </a:rPr>
              <a:t>On remet les compteurs à zéro (employés + commissions).</a:t>
            </a:r>
            <a:br>
              <a:rPr lang="fr">
                <a:solidFill>
                  <a:schemeClr val="lt2"/>
                </a:solidFill>
              </a:rPr>
            </a:br>
            <a:endParaRPr>
              <a:solidFill>
                <a:schemeClr val="lt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Char char="●"/>
            </a:pPr>
            <a:r>
              <a:rPr lang="fr">
                <a:solidFill>
                  <a:schemeClr val="lt2"/>
                </a:solidFill>
              </a:rPr>
              <a:t>On affiche le header du nouveau département. et on met à jour les totaux </a:t>
            </a:r>
            <a:r>
              <a:rPr lang="fr">
                <a:solidFill>
                  <a:schemeClr val="lt2"/>
                </a:solidFill>
              </a:rPr>
              <a:t>département</a:t>
            </a:r>
            <a:r>
              <a:rPr lang="fr">
                <a:solidFill>
                  <a:schemeClr val="lt2"/>
                </a:solidFill>
              </a:rPr>
              <a:t> puis on affiche les informations de l’employé 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96" name="Google Shape;496;p49" title="2025-12-01_12h54_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575" y="1488625"/>
            <a:ext cx="3755275" cy="255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0"/>
          <p:cNvSpPr txBox="1"/>
          <p:nvPr>
            <p:ph type="title"/>
          </p:nvPr>
        </p:nvSpPr>
        <p:spPr>
          <a:xfrm>
            <a:off x="311725" y="500925"/>
            <a:ext cx="3706500" cy="7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Fetch et indicateurs 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variables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0"/>
          <p:cNvSpPr txBox="1"/>
          <p:nvPr>
            <p:ph idx="1" type="body"/>
          </p:nvPr>
        </p:nvSpPr>
        <p:spPr>
          <a:xfrm>
            <a:off x="4479650" y="137977"/>
            <a:ext cx="4376400" cy="50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5000">
                <a:solidFill>
                  <a:schemeClr val="lt2"/>
                </a:solidFill>
              </a:rPr>
              <a:t>Chaque indicateur (INDIC-) indique l’état de la donnée :</a:t>
            </a:r>
            <a:endParaRPr sz="5000">
              <a:solidFill>
                <a:schemeClr val="lt2"/>
              </a:solidFill>
            </a:endParaRPr>
          </a:p>
          <a:p>
            <a:pPr indent="-307977" lvl="0" marL="457200" rtl="0" algn="l"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Char char="●"/>
            </a:pPr>
            <a:r>
              <a:rPr lang="fr" sz="5000">
                <a:solidFill>
                  <a:schemeClr val="lt2"/>
                </a:solidFill>
              </a:rPr>
              <a:t>&gt;= 0 → valeur valide</a:t>
            </a:r>
            <a:br>
              <a:rPr lang="fr" sz="5000">
                <a:solidFill>
                  <a:schemeClr val="lt2"/>
                </a:solidFill>
              </a:rPr>
            </a:br>
            <a:endParaRPr sz="5000">
              <a:solidFill>
                <a:schemeClr val="lt2"/>
              </a:solidFill>
            </a:endParaRPr>
          </a:p>
          <a:p>
            <a:pPr indent="-307977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Char char="●"/>
            </a:pPr>
            <a:r>
              <a:rPr lang="fr" sz="5000">
                <a:solidFill>
                  <a:schemeClr val="lt2"/>
                </a:solidFill>
              </a:rPr>
              <a:t>&lt; 0 → NULL ou valeur absente dans la base</a:t>
            </a:r>
            <a:br>
              <a:rPr lang="fr" sz="5000">
                <a:solidFill>
                  <a:schemeClr val="lt2"/>
                </a:solidFill>
              </a:rPr>
            </a:br>
            <a:endParaRPr sz="5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5000">
                <a:solidFill>
                  <a:schemeClr val="lt2"/>
                </a:solidFill>
              </a:rPr>
              <a:t>Le programme doit éviter d’afficher du “NULL” ou des zones non initialisées.</a:t>
            </a:r>
            <a:endParaRPr sz="5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5000">
                <a:solidFill>
                  <a:schemeClr val="lt2"/>
                </a:solidFill>
              </a:rPr>
              <a:t>Si la valeur est NULL :</a:t>
            </a:r>
            <a:br>
              <a:rPr lang="fr" sz="5000">
                <a:solidFill>
                  <a:schemeClr val="lt2"/>
                </a:solidFill>
              </a:rPr>
            </a:br>
            <a:r>
              <a:rPr lang="fr" sz="5000">
                <a:solidFill>
                  <a:schemeClr val="lt2"/>
                </a:solidFill>
              </a:rPr>
              <a:t> on remplace par des espaces pour le texte ou 0 pour un </a:t>
            </a:r>
            <a:r>
              <a:rPr lang="fr" sz="5000">
                <a:solidFill>
                  <a:schemeClr val="lt2"/>
                </a:solidFill>
              </a:rPr>
              <a:t>numérique</a:t>
            </a:r>
            <a:r>
              <a:rPr lang="fr" sz="5000">
                <a:solidFill>
                  <a:schemeClr val="lt2"/>
                </a:solidFill>
              </a:rPr>
              <a:t> pour et ainsi ne pas polluer le rapport.</a:t>
            </a:r>
            <a:endParaRPr sz="5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5000">
                <a:solidFill>
                  <a:schemeClr val="lt2"/>
                </a:solidFill>
              </a:rPr>
              <a:t> Sinon :</a:t>
            </a:r>
            <a:br>
              <a:rPr lang="fr" sz="5000">
                <a:solidFill>
                  <a:schemeClr val="lt2"/>
                </a:solidFill>
              </a:rPr>
            </a:br>
            <a:r>
              <a:rPr lang="fr" sz="5000">
                <a:solidFill>
                  <a:schemeClr val="lt2"/>
                </a:solidFill>
              </a:rPr>
              <a:t>On copie la valeur réelle, tronquée proprement à la longueur utile.</a:t>
            </a:r>
            <a:endParaRPr sz="5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5000">
                <a:solidFill>
                  <a:schemeClr val="lt2"/>
                </a:solidFill>
              </a:rPr>
              <a:t>Ce traitement est répété pour variable </a:t>
            </a:r>
            <a:r>
              <a:rPr lang="fr" sz="5000">
                <a:solidFill>
                  <a:schemeClr val="lt2"/>
                </a:solidFill>
              </a:rPr>
              <a:t>potentiellement</a:t>
            </a:r>
            <a:r>
              <a:rPr lang="fr" sz="5000">
                <a:solidFill>
                  <a:schemeClr val="lt2"/>
                </a:solidFill>
              </a:rPr>
              <a:t> nulle </a:t>
            </a:r>
            <a:r>
              <a:rPr lang="fr" sz="5000">
                <a:solidFill>
                  <a:schemeClr val="lt2"/>
                </a:solidFill>
              </a:rPr>
              <a:t>récupéré</a:t>
            </a:r>
            <a:r>
              <a:rPr lang="fr" sz="5000">
                <a:solidFill>
                  <a:schemeClr val="lt2"/>
                </a:solidFill>
              </a:rPr>
              <a:t> par le Fetch</a:t>
            </a:r>
            <a:endParaRPr sz="5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504" name="Google Shape;50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25" y="1425675"/>
            <a:ext cx="3348416" cy="18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825" y="3167925"/>
            <a:ext cx="3417174" cy="1809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</a:t>
            </a:r>
            <a:r>
              <a:rPr lang="fr"/>
              <a:t> des Batchs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1"/>
          <p:cNvSpPr txBox="1"/>
          <p:nvPr>
            <p:ph idx="1" type="body"/>
          </p:nvPr>
        </p:nvSpPr>
        <p:spPr>
          <a:xfrm>
            <a:off x="5233675" y="1262200"/>
            <a:ext cx="23580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solidFill>
                  <a:srgbClr val="000000"/>
                </a:solidFill>
              </a:rPr>
              <a:t>BATCH C  Liste des employés avec leur commissions par </a:t>
            </a:r>
            <a:r>
              <a:rPr lang="fr">
                <a:solidFill>
                  <a:srgbClr val="000000"/>
                </a:solidFill>
              </a:rPr>
              <a:t>département</a:t>
            </a:r>
            <a:r>
              <a:rPr lang="fr">
                <a:solidFill>
                  <a:srgbClr val="000000"/>
                </a:solidFill>
              </a:rPr>
              <a:t> et total d’employé + </a:t>
            </a:r>
            <a:r>
              <a:rPr lang="fr">
                <a:solidFill>
                  <a:srgbClr val="000000"/>
                </a:solidFill>
              </a:rPr>
              <a:t>commissions</a:t>
            </a:r>
            <a:r>
              <a:rPr lang="fr">
                <a:solidFill>
                  <a:srgbClr val="000000"/>
                </a:solidFill>
              </a:rPr>
              <a:t> tout department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12" name="Google Shape;51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513" name="Google Shape;513;p51" title="2025-12-03_21h33_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388" y="3992550"/>
            <a:ext cx="2974225" cy="88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51" title="2025-12-03_21h34_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125" y="1803625"/>
            <a:ext cx="3867697" cy="18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51" title="2025-12-03_21h41_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7110" y="1865050"/>
            <a:ext cx="2804180" cy="2798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51"/>
          <p:cNvSpPr txBox="1"/>
          <p:nvPr>
            <p:ph idx="1" type="body"/>
          </p:nvPr>
        </p:nvSpPr>
        <p:spPr>
          <a:xfrm>
            <a:off x="1092888" y="1332575"/>
            <a:ext cx="189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fr" sz="814">
                <a:solidFill>
                  <a:srgbClr val="FFFFFF"/>
                </a:solidFill>
              </a:rPr>
              <a:t>BATCH A: cumul des quantités par produit sur les 3 dernières années</a:t>
            </a:r>
            <a:endParaRPr sz="814">
              <a:solidFill>
                <a:srgbClr val="FFFFFF"/>
              </a:solidFill>
            </a:endParaRPr>
          </a:p>
        </p:txBody>
      </p:sp>
      <p:sp>
        <p:nvSpPr>
          <p:cNvPr id="517" name="Google Shape;517;p51"/>
          <p:cNvSpPr txBox="1"/>
          <p:nvPr>
            <p:ph idx="1" type="body"/>
          </p:nvPr>
        </p:nvSpPr>
        <p:spPr>
          <a:xfrm>
            <a:off x="1092898" y="3709950"/>
            <a:ext cx="1975200" cy="4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lt1"/>
                </a:solidFill>
              </a:rPr>
              <a:t>BATCH B: cumul des ventes par ville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Master Batch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2"/>
          <p:cNvSpPr txBox="1"/>
          <p:nvPr>
            <p:ph idx="1" type="body"/>
          </p:nvPr>
        </p:nvSpPr>
        <p:spPr>
          <a:xfrm>
            <a:off x="4440900" y="107250"/>
            <a:ext cx="4664700" cy="49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STEPDB2 : Préparation DB2 </a:t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Chargement des bibliothèques</a:t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Le JCL alloue toutes les bibliothèques DB2 et applicatives nécessaires : DCLGEN   /   COBOL    /   DBRMLIB    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200">
                <a:latin typeface="Arial"/>
                <a:ea typeface="Arial"/>
                <a:cs typeface="Arial"/>
                <a:sym typeface="Arial"/>
              </a:rPr>
              <a:t>Objectif du Master Batch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1200">
                <a:latin typeface="Arial"/>
                <a:ea typeface="Arial"/>
                <a:cs typeface="Arial"/>
                <a:sym typeface="Arial"/>
              </a:rPr>
              <a:t>Automatiser l’exécution des différents batchs du projet en les soumettant automatiquement à JES2, dans un ordre défini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1200">
                <a:latin typeface="Arial"/>
                <a:ea typeface="Arial"/>
                <a:cs typeface="Arial"/>
                <a:sym typeface="Arial"/>
              </a:rPr>
              <a:t>L’</a:t>
            </a:r>
            <a:r>
              <a:rPr b="1" lang="fr" sz="1200">
                <a:latin typeface="Arial"/>
                <a:ea typeface="Arial"/>
                <a:cs typeface="Arial"/>
                <a:sym typeface="Arial"/>
              </a:rPr>
              <a:t>INTRDR</a:t>
            </a:r>
            <a:r>
              <a:rPr lang="fr" sz="1200">
                <a:latin typeface="Arial"/>
                <a:ea typeface="Arial"/>
                <a:cs typeface="Arial"/>
                <a:sym typeface="Arial"/>
              </a:rPr>
              <a:t> (INternal ReaDeR) est un </a:t>
            </a:r>
            <a:r>
              <a:rPr b="1" lang="fr" sz="1200">
                <a:latin typeface="Arial"/>
                <a:ea typeface="Arial"/>
                <a:cs typeface="Arial"/>
                <a:sym typeface="Arial"/>
              </a:rPr>
              <a:t>lecteur virtuel</a:t>
            </a:r>
            <a:r>
              <a:rPr lang="fr" sz="1200">
                <a:latin typeface="Arial"/>
                <a:ea typeface="Arial"/>
                <a:cs typeface="Arial"/>
                <a:sym typeface="Arial"/>
              </a:rPr>
              <a:t> de JES2 qui permet d’envoyer un JCL directement au système </a:t>
            </a:r>
            <a:r>
              <a:rPr b="1" lang="fr" sz="1200">
                <a:latin typeface="Arial"/>
                <a:ea typeface="Arial"/>
                <a:cs typeface="Arial"/>
                <a:sym typeface="Arial"/>
              </a:rPr>
              <a:t>comme lors d’un  “SUBMIT”</a:t>
            </a:r>
            <a:r>
              <a:rPr lang="fr" sz="1200">
                <a:latin typeface="Arial"/>
                <a:ea typeface="Arial"/>
                <a:cs typeface="Arial"/>
                <a:sym typeface="Arial"/>
              </a:rPr>
              <a:t> dans ISPF.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latin typeface="Arial"/>
                <a:ea typeface="Arial"/>
                <a:cs typeface="Arial"/>
                <a:sym typeface="Arial"/>
              </a:rPr>
              <a:t>Le master Batch  “ BATJCL”  permet de lancer </a:t>
            </a:r>
            <a:r>
              <a:rPr lang="fr" sz="1200">
                <a:latin typeface="Arial"/>
                <a:ea typeface="Arial"/>
                <a:cs typeface="Arial"/>
                <a:sym typeface="Arial"/>
              </a:rPr>
              <a:t>indépendamment  les batch passés dans le ‘SET’ pour afficher le fichier souhaité, dans l’ordre que l’on souhaite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fr" sz="1200"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525" name="Google Shape;52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150" y="1451550"/>
            <a:ext cx="3913650" cy="3147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DEMO</a:t>
            </a:r>
            <a:endParaRPr/>
          </a:p>
        </p:txBody>
      </p:sp>
      <p:sp>
        <p:nvSpPr>
          <p:cNvPr id="531" name="Google Shape;531;p5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PROBLÈMES</a:t>
            </a:r>
            <a:r>
              <a:rPr lang="fr"/>
              <a:t> </a:t>
            </a:r>
            <a:r>
              <a:rPr lang="fr"/>
              <a:t>RENCONTRÉS</a:t>
            </a:r>
            <a:r>
              <a:rPr lang="fr"/>
              <a:t> ET SOLUTIONS</a:t>
            </a:r>
            <a:endParaRPr/>
          </a:p>
        </p:txBody>
      </p:sp>
      <p:sp>
        <p:nvSpPr>
          <p:cNvPr id="538" name="Google Shape;538;p54"/>
          <p:cNvSpPr txBox="1"/>
          <p:nvPr>
            <p:ph idx="1" type="body"/>
          </p:nvPr>
        </p:nvSpPr>
        <p:spPr>
          <a:xfrm>
            <a:off x="4462600" y="500925"/>
            <a:ext cx="4479300" cy="4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u="sng">
                <a:solidFill>
                  <a:schemeClr val="dk1"/>
                </a:solidFill>
              </a:rPr>
              <a:t>Modification de la balance client 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Problème 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Commande contenant produit P16 (inexistant en BDD) → Comment traiter sans invalider toute la commande ?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Solution :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Variable WS-ITEM-INSERT-OK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Pour chaque commande : </a:t>
            </a:r>
            <a:endParaRPr b="1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">
                <a:solidFill>
                  <a:schemeClr val="dk1"/>
                </a:solidFill>
              </a:rPr>
              <a:t>Si produit existe -&gt; INSERT + cumul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">
                <a:solidFill>
                  <a:schemeClr val="dk1"/>
                </a:solidFill>
              </a:rPr>
              <a:t>Si produit inexistant -&gt; LOG, pas de cumul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Résultats : 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>
                <a:solidFill>
                  <a:schemeClr val="dk1"/>
                </a:solidFill>
              </a:rPr>
              <a:t>Commande validée avec items existants seulement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">
                <a:solidFill>
                  <a:schemeClr val="dk1"/>
                </a:solidFill>
              </a:rPr>
              <a:t>Balance client correcte (pas de doublon)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">
                <a:solidFill>
                  <a:schemeClr val="dk1"/>
                </a:solidFill>
              </a:rPr>
              <a:t>Anomalie journalisée dans LOGDATA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</a:rPr>
              <a:t>-&gt; détails techniques slide suivante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9" name="Google Shape;539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40" name="Google Shape;540;p54"/>
          <p:cNvSpPr txBox="1"/>
          <p:nvPr/>
        </p:nvSpPr>
        <p:spPr>
          <a:xfrm>
            <a:off x="699175" y="2584200"/>
            <a:ext cx="202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PARTIE 2 : DB2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PROBLÈMES RENCONTRÉS ET SOLUTIONS</a:t>
            </a:r>
            <a:endParaRPr/>
          </a:p>
        </p:txBody>
      </p:sp>
      <p:sp>
        <p:nvSpPr>
          <p:cNvPr id="546" name="Google Shape;54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47" name="Google Shape;547;p55"/>
          <p:cNvSpPr txBox="1"/>
          <p:nvPr/>
        </p:nvSpPr>
        <p:spPr>
          <a:xfrm>
            <a:off x="1220075" y="2098175"/>
            <a:ext cx="1535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Nouvelle variable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8" name="Google Shape;54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2631713"/>
            <a:ext cx="3637200" cy="688437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55"/>
          <p:cNvSpPr txBox="1"/>
          <p:nvPr/>
        </p:nvSpPr>
        <p:spPr>
          <a:xfrm>
            <a:off x="430675" y="3533175"/>
            <a:ext cx="34686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Validation si l’INSERT se passe bien (dans les paragraphes </a:t>
            </a:r>
            <a:r>
              <a:rPr lang="fr" sz="12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INSÉRER</a:t>
            </a:r>
            <a:r>
              <a:rPr lang="fr" sz="12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-ITEM)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0" name="Google Shape;55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26" y="4175675"/>
            <a:ext cx="3920900" cy="564916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55"/>
          <p:cNvSpPr txBox="1"/>
          <p:nvPr/>
        </p:nvSpPr>
        <p:spPr>
          <a:xfrm>
            <a:off x="4784845" y="183525"/>
            <a:ext cx="42363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Réinitialisation dans les paragraphes TRAITER-LIGNE</a:t>
            </a: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2" name="Google Shape;552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2899" y="663475"/>
            <a:ext cx="4578251" cy="105376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5"/>
          <p:cNvSpPr txBox="1"/>
          <p:nvPr/>
        </p:nvSpPr>
        <p:spPr>
          <a:xfrm>
            <a:off x="4613870" y="2132950"/>
            <a:ext cx="42363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Conditionnel : Si item existe et a bien été ajouté, on ajoute le montant total (qte * prix) pour le cumul, sinon ne pas l’ajouter.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4" name="Google Shape;554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3875" y="2956265"/>
            <a:ext cx="4064899" cy="146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6"/>
          <p:cNvSpPr txBox="1"/>
          <p:nvPr>
            <p:ph type="title"/>
          </p:nvPr>
        </p:nvSpPr>
        <p:spPr>
          <a:xfrm>
            <a:off x="311725" y="500925"/>
            <a:ext cx="3706500" cy="41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PROBLÈMES RENCONTRÉS ET SOLUTIONS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f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 espaces en trop entre 2 mots :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○"/>
            </a:pPr>
            <a:r>
              <a:rPr lang="fr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Solution :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f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 espaces en début de chaîne :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○"/>
            </a:pPr>
            <a:r>
              <a:rPr lang="fr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Solution :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5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Récupérer l’utilisateur qui a lancé le job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/>
              <a:t>Solution :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fr"/>
              <a:t>DB2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2" marL="1371600" rtl="0" algn="l">
              <a:spcBef>
                <a:spcPts val="1200"/>
              </a:spcBef>
              <a:spcAft>
                <a:spcPts val="0"/>
              </a:spcAft>
              <a:buSzPts val="1100"/>
              <a:buChar char="■"/>
            </a:pPr>
            <a:r>
              <a:rPr lang="fr"/>
              <a:t>COBOL :</a:t>
            </a:r>
            <a:endParaRPr/>
          </a:p>
          <a:p>
            <a:pPr indent="-298450" lvl="3" marL="18288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/>
              <a:t>JCL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3" marL="18288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fr"/>
              <a:t>Programme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562" name="Google Shape;56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63" y="2719325"/>
            <a:ext cx="39528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186" y="3712825"/>
            <a:ext cx="3524251" cy="1170886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56"/>
          <p:cNvSpPr txBox="1"/>
          <p:nvPr/>
        </p:nvSpPr>
        <p:spPr>
          <a:xfrm>
            <a:off x="870150" y="1818000"/>
            <a:ext cx="2456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PARTIE 3 : FACTURES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5" name="Google Shape;565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6238" y="1291275"/>
            <a:ext cx="3343275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2863" y="2959275"/>
            <a:ext cx="42100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65775" y="3650550"/>
            <a:ext cx="352425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PROBLÈMES RENCONTRÉS ET SOLUTIONS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Partie 4</a:t>
            </a:r>
            <a:endParaRPr/>
          </a:p>
        </p:txBody>
      </p:sp>
      <p:sp>
        <p:nvSpPr>
          <p:cNvPr id="573" name="Google Shape;573;p5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Choix technique  pour les Batchs ,  interroger </a:t>
            </a:r>
            <a:r>
              <a:rPr lang="fr" sz="1200"/>
              <a:t>directement</a:t>
            </a:r>
            <a:r>
              <a:rPr lang="fr" sz="1200"/>
              <a:t> la BDD DB2 ou s’appuyer sur un Extract globale.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-"/>
            </a:pPr>
            <a:r>
              <a:rPr lang="fr" sz="1200">
                <a:latin typeface="Arial"/>
                <a:ea typeface="Arial"/>
                <a:cs typeface="Arial"/>
                <a:sym typeface="Arial"/>
              </a:rPr>
              <a:t>L’extract demandé est spécifiquement orienté facturation (données </a:t>
            </a:r>
            <a:r>
              <a:rPr lang="fr" sz="1200">
                <a:latin typeface="Arial"/>
                <a:ea typeface="Arial"/>
                <a:cs typeface="Arial"/>
                <a:sym typeface="Arial"/>
              </a:rPr>
              <a:t>différentes</a:t>
            </a:r>
            <a:r>
              <a:rPr lang="fr" sz="1200">
                <a:latin typeface="Arial"/>
                <a:ea typeface="Arial"/>
                <a:cs typeface="Arial"/>
                <a:sym typeface="Arial"/>
              </a:rPr>
              <a:t>)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Aucune contrainte sur la performance DB2 pour les stats dans le sujet.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Les données nécessaires ne sont pas les mêmes avec la facturation.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DB2 , seul source de vérité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Evite les dépendances intermédiaires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pas de risque de données périmées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⇒ le choix technique retenu : DB2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⇒ Supprimer les espaces entre le signe $ et les montants par exemple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⇒ Ne pas oublier les indicateur de variables sur des montant calculer en cas d’absence</a:t>
            </a:r>
            <a:endParaRPr/>
          </a:p>
        </p:txBody>
      </p:sp>
      <p:sp>
        <p:nvSpPr>
          <p:cNvPr id="574" name="Google Shape;574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75" name="Google Shape;575;p57"/>
          <p:cNvSpPr txBox="1"/>
          <p:nvPr/>
        </p:nvSpPr>
        <p:spPr>
          <a:xfrm>
            <a:off x="4774375" y="4732275"/>
            <a:ext cx="3735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Partie 4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/>
              <a:t>Axes d’amélioration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4200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fr" sz="4200"/>
              <a:t>Même si le projet a été traité dans on son intégralité , plusieurs pistes pourraient être explorées comme :</a:t>
            </a:r>
            <a:br>
              <a:rPr lang="fr" sz="4200"/>
            </a:br>
            <a:endParaRPr sz="4200"/>
          </a:p>
          <a:p>
            <a:pPr indent="-295275" lvl="0" marL="457200" rtl="0" algn="l"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lang="fr" sz="4200"/>
              <a:t>Renforcer les contrôles transverses pour anticiper les incohérences,</a:t>
            </a:r>
            <a:br>
              <a:rPr lang="fr" sz="4200"/>
            </a:br>
            <a:endParaRPr sz="4200"/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lang="fr" sz="4200"/>
              <a:t>mutualiser davantage certains modules (Logs, formats, constantes),</a:t>
            </a:r>
            <a:br>
              <a:rPr lang="fr" sz="4200"/>
            </a:br>
            <a:endParaRPr sz="4200"/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lang="fr" sz="4200"/>
              <a:t>Développer une interface de supervision pour les exécutions batch,</a:t>
            </a:r>
            <a:br>
              <a:rPr lang="fr" sz="4200"/>
            </a:br>
            <a:endParaRPr sz="4200"/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lang="fr" sz="4200"/>
              <a:t>Enrichir les jeux de tests croisés entre parties.</a:t>
            </a:r>
            <a:endParaRPr sz="4200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4200"/>
          </a:p>
          <a:p>
            <a:pPr indent="-295275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lang="fr" sz="4200"/>
              <a:t>Automatisation complète du batch (workflow JCL).</a:t>
            </a:r>
            <a:endParaRPr sz="4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/>
          </a:p>
          <a:p>
            <a:pPr indent="-295275" lvl="0" marL="457200" rtl="0" algn="l"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fr" sz="4200"/>
              <a:t>Historisation et filtre par date/Company  des factures.</a:t>
            </a:r>
            <a:endParaRPr sz="4200"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86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0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588" name="Google Shape;588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89" name="Google Shape;589;p59"/>
          <p:cNvSpPr txBox="1"/>
          <p:nvPr/>
        </p:nvSpPr>
        <p:spPr>
          <a:xfrm>
            <a:off x="306250" y="1524875"/>
            <a:ext cx="3706500" cy="3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b="1"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 de la fin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59"/>
          <p:cNvSpPr txBox="1"/>
          <p:nvPr/>
        </p:nvSpPr>
        <p:spPr>
          <a:xfrm>
            <a:off x="4407500" y="163050"/>
            <a:ext cx="4613700" cy="48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BILAN   PROJET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666666"/>
              </a:buClr>
              <a:buSzPts val="1200"/>
              <a:buChar char="●"/>
            </a:pPr>
            <a:r>
              <a:rPr b="1" lang="fr" sz="1200">
                <a:solidFill>
                  <a:srgbClr val="666666"/>
                </a:solidFill>
              </a:rPr>
              <a:t>     PROJET</a:t>
            </a:r>
            <a:endParaRPr b="1" sz="1200">
              <a:solidFill>
                <a:srgbClr val="666666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Char char="●"/>
            </a:pPr>
            <a:r>
              <a:rPr b="1" lang="fr" sz="1200">
                <a:solidFill>
                  <a:srgbClr val="666666"/>
                </a:solidFill>
              </a:rPr>
              <a:t>     EQUIPE</a:t>
            </a:r>
            <a:endParaRPr b="1" sz="1200">
              <a:solidFill>
                <a:srgbClr val="666666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Char char="●"/>
            </a:pPr>
            <a:r>
              <a:rPr b="1" lang="fr" sz="1200">
                <a:solidFill>
                  <a:srgbClr val="666666"/>
                </a:solidFill>
              </a:rPr>
              <a:t>     </a:t>
            </a:r>
            <a:r>
              <a:rPr b="1" lang="fr" sz="1200">
                <a:solidFill>
                  <a:srgbClr val="666666"/>
                </a:solidFill>
              </a:rPr>
              <a:t>COMPÉTENCES</a:t>
            </a:r>
            <a:endParaRPr b="1" sz="12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91" name="Google Shape;591;p59"/>
          <p:cNvSpPr txBox="1"/>
          <p:nvPr/>
        </p:nvSpPr>
        <p:spPr>
          <a:xfrm>
            <a:off x="1309600" y="2256150"/>
            <a:ext cx="2574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MERCI!</a:t>
            </a:r>
            <a:endParaRPr sz="2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